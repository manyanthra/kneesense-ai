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4.png"/><Relationship Id="rId7" Type="http://schemas.openxmlformats.org/officeDocument/2006/relationships/image" Target="../media/image-2-7.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0.png"/><Relationship Id="rId13" Type="http://schemas.openxmlformats.org/officeDocument/2006/relationships/image" Target="../media/image-6-10.png"/><Relationship Id="rId14" Type="http://schemas.openxmlformats.org/officeDocument/2006/relationships/image" Target="../media/image-6-10.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2.png"/><Relationship Id="rId5" Type="http://schemas.openxmlformats.org/officeDocument/2006/relationships/image" Target="../media/image-7-5.png"/><Relationship Id="rId6" Type="http://schemas.openxmlformats.org/officeDocument/2006/relationships/image" Target="../media/image-7-2.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4F"/>
        </a:solidFill>
      </p:bgPr>
    </p:bg>
    <p:spTree>
      <p:nvGrpSpPr>
        <p:cNvPr id="1" name=""/>
        <p:cNvGrpSpPr/>
        <p:nvPr/>
      </p:nvGrpSpPr>
      <p:grpSpPr>
        <a:xfrm>
          <a:off x="0" y="0"/>
          <a:ext cx="0" cy="0"/>
          <a:chOff x="0" y="0"/>
          <a:chExt cx="0" cy="0"/>
        </a:xfrm>
      </p:grpSpPr>
      <p:sp>
        <p:nvSpPr>
          <p:cNvPr id="2" name="Shape 0"/>
          <p:cNvSpPr/>
          <p:nvPr/>
        </p:nvSpPr>
        <p:spPr>
          <a:xfrm>
            <a:off x="8778240" y="3566160"/>
            <a:ext cx="5943600" cy="5943600"/>
          </a:xfrm>
          <a:prstGeom prst="ellipse">
            <a:avLst/>
          </a:prstGeom>
          <a:ln w="15875">
            <a:solidFill>
              <a:srgbClr val="163C5C"/>
            </a:solidFill>
            <a:prstDash val="solid"/>
          </a:ln>
        </p:spPr>
      </p:sp>
      <p:sp>
        <p:nvSpPr>
          <p:cNvPr id="3" name="Shape 1"/>
          <p:cNvSpPr/>
          <p:nvPr/>
        </p:nvSpPr>
        <p:spPr>
          <a:xfrm>
            <a:off x="9509760" y="4297680"/>
            <a:ext cx="4480560" cy="4480560"/>
          </a:xfrm>
          <a:prstGeom prst="ellipse">
            <a:avLst/>
          </a:prstGeom>
          <a:ln w="15875">
            <a:solidFill>
              <a:srgbClr val="1C4A6E"/>
            </a:solidFill>
            <a:prstDash val="solid"/>
          </a:ln>
        </p:spPr>
      </p:sp>
      <p:sp>
        <p:nvSpPr>
          <p:cNvPr id="4" name="Shape 2"/>
          <p:cNvSpPr/>
          <p:nvPr/>
        </p:nvSpPr>
        <p:spPr>
          <a:xfrm>
            <a:off x="10241280" y="5029200"/>
            <a:ext cx="3017520" cy="3017520"/>
          </a:xfrm>
          <a:prstGeom prst="ellipse">
            <a:avLst/>
          </a:prstGeom>
          <a:ln w="19050">
            <a:solidFill>
              <a:srgbClr val="1B98A0"/>
            </a:solidFill>
            <a:prstDash val="solid"/>
          </a:ln>
        </p:spPr>
      </p:sp>
      <p:sp>
        <p:nvSpPr>
          <p:cNvPr id="5" name="Text 3"/>
          <p:cNvSpPr/>
          <p:nvPr/>
        </p:nvSpPr>
        <p:spPr>
          <a:xfrm>
            <a:off x="822960" y="1417320"/>
            <a:ext cx="8229600" cy="365760"/>
          </a:xfrm>
          <a:prstGeom prst="rect">
            <a:avLst/>
          </a:prstGeom>
          <a:noFill/>
          <a:ln/>
        </p:spPr>
        <p:txBody>
          <a:bodyPr wrap="square" rtlCol="0" anchor="ctr"/>
          <a:lstStyle/>
          <a:p>
            <a:pPr indent="0" marL="0">
              <a:buNone/>
            </a:pPr>
            <a:r>
              <a:rPr lang="en-US" sz="1300" b="1" spc="250" kern="0" dirty="0">
                <a:solidFill>
                  <a:srgbClr val="6FD6DB"/>
                </a:solidFill>
                <a:latin typeface="Calibri" pitchFamily="34" charset="0"/>
                <a:ea typeface="Calibri" pitchFamily="34" charset="-122"/>
                <a:cs typeface="Calibri" pitchFamily="34" charset="-120"/>
              </a:rPr>
              <a:t>AI-ASSISTED ORTHOPEDIC IMAGING PLATFORM</a:t>
            </a:r>
            <a:endParaRPr lang="en-US" sz="1300" dirty="0"/>
          </a:p>
        </p:txBody>
      </p:sp>
      <p:sp>
        <p:nvSpPr>
          <p:cNvPr id="6" name="Text 4"/>
          <p:cNvSpPr/>
          <p:nvPr/>
        </p:nvSpPr>
        <p:spPr>
          <a:xfrm>
            <a:off x="777240" y="1874520"/>
            <a:ext cx="9509760" cy="1920240"/>
          </a:xfrm>
          <a:prstGeom prst="rect">
            <a:avLst/>
          </a:prstGeom>
          <a:noFill/>
          <a:ln/>
        </p:spPr>
        <p:txBody>
          <a:bodyPr wrap="square"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Medial Meniscus Assessment &amp;</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Patient-Specific Knee Implant Sizing</a:t>
            </a:r>
            <a:endParaRPr lang="en-US" sz="4200" dirty="0"/>
          </a:p>
        </p:txBody>
      </p:sp>
      <p:sp>
        <p:nvSpPr>
          <p:cNvPr id="7" name="Text 5"/>
          <p:cNvSpPr/>
          <p:nvPr/>
        </p:nvSpPr>
        <p:spPr>
          <a:xfrm>
            <a:off x="822960" y="3977640"/>
            <a:ext cx="7589520" cy="777240"/>
          </a:xfrm>
          <a:prstGeom prst="rect">
            <a:avLst/>
          </a:prstGeom>
          <a:noFill/>
          <a:ln/>
        </p:spPr>
        <p:txBody>
          <a:bodyPr wrap="square" rtlCol="0" anchor="ctr"/>
          <a:lstStyle/>
          <a:p>
            <a:pPr indent="0" marL="0">
              <a:lnSpc>
                <a:spcPts val="2100"/>
              </a:lnSpc>
              <a:buNone/>
            </a:pPr>
            <a:r>
              <a:rPr lang="en-US" sz="1500" dirty="0">
                <a:solidFill>
                  <a:srgbClr val="C7D9E4"/>
                </a:solidFill>
                <a:latin typeface="Calibri" pitchFamily="34" charset="0"/>
                <a:ea typeface="Calibri" pitchFamily="34" charset="-122"/>
                <a:cs typeface="Calibri" pitchFamily="34" charset="-120"/>
              </a:rPr>
              <a:t>Turning knee MRI into quantitative, reproducible measurements — supporting osteoarthritis research and pre-operative implant planning.</a:t>
            </a:r>
            <a:endParaRPr lang="en-US" sz="1500" dirty="0"/>
          </a:p>
        </p:txBody>
      </p:sp>
      <p:sp>
        <p:nvSpPr>
          <p:cNvPr id="8" name="Shape 6"/>
          <p:cNvSpPr/>
          <p:nvPr/>
        </p:nvSpPr>
        <p:spPr>
          <a:xfrm>
            <a:off x="822960" y="5422392"/>
            <a:ext cx="402336" cy="402336"/>
          </a:xfrm>
          <a:prstGeom prst="ellipse">
            <a:avLst/>
          </a:prstGeom>
          <a:solidFill>
            <a:srgbClr val="12395A"/>
          </a:solidFill>
          <a:ln/>
        </p:spPr>
      </p:sp>
      <p:pic>
        <p:nvPicPr>
          <p:cNvPr id="9" name="Image 0" descr="icons/scan_teal.png">    </p:cNvPr>
          <p:cNvPicPr>
            <a:picLocks noChangeAspect="1"/>
          </p:cNvPicPr>
          <p:nvPr/>
        </p:nvPicPr>
        <p:blipFill>
          <a:blip r:embed="rId1"/>
          <a:stretch>
            <a:fillRect/>
          </a:stretch>
        </p:blipFill>
        <p:spPr>
          <a:xfrm>
            <a:off x="919521" y="5518953"/>
            <a:ext cx="209215" cy="209215"/>
          </a:xfrm>
          <a:prstGeom prst="rect">
            <a:avLst/>
          </a:prstGeom>
        </p:spPr>
      </p:pic>
      <p:sp>
        <p:nvSpPr>
          <p:cNvPr id="10" name="Text 7"/>
          <p:cNvSpPr/>
          <p:nvPr/>
        </p:nvSpPr>
        <p:spPr>
          <a:xfrm>
            <a:off x="1325880" y="5422392"/>
            <a:ext cx="2331720" cy="411480"/>
          </a:xfrm>
          <a:prstGeom prst="rect">
            <a:avLst/>
          </a:prstGeom>
          <a:noFill/>
          <a:ln/>
        </p:spPr>
        <p:txBody>
          <a:bodyPr wrap="square" rtlCol="0" anchor="ctr"/>
          <a:lstStyle/>
          <a:p>
            <a:pPr indent="0" marL="0">
              <a:buNone/>
            </a:pPr>
            <a:r>
              <a:rPr lang="en-US" sz="1150" b="1" dirty="0">
                <a:solidFill>
                  <a:srgbClr val="DCE9F1"/>
                </a:solidFill>
                <a:latin typeface="Calibri" pitchFamily="34" charset="0"/>
                <a:ea typeface="Calibri" pitchFamily="34" charset="-122"/>
                <a:cs typeface="Calibri" pitchFamily="34" charset="-120"/>
              </a:rPr>
              <a:t>MRI-Based AI Segmentation</a:t>
            </a:r>
            <a:endParaRPr lang="en-US" sz="1150" dirty="0"/>
          </a:p>
        </p:txBody>
      </p:sp>
      <p:sp>
        <p:nvSpPr>
          <p:cNvPr id="11" name="Shape 8"/>
          <p:cNvSpPr/>
          <p:nvPr/>
        </p:nvSpPr>
        <p:spPr>
          <a:xfrm>
            <a:off x="3611880" y="5422392"/>
            <a:ext cx="402336" cy="402336"/>
          </a:xfrm>
          <a:prstGeom prst="ellipse">
            <a:avLst/>
          </a:prstGeom>
          <a:solidFill>
            <a:srgbClr val="12395A"/>
          </a:solidFill>
          <a:ln/>
        </p:spPr>
      </p:sp>
      <p:pic>
        <p:nvPicPr>
          <p:cNvPr id="12" name="Image 1" descr="icons/ruler_teal.png">    </p:cNvPr>
          <p:cNvPicPr>
            <a:picLocks noChangeAspect="1"/>
          </p:cNvPicPr>
          <p:nvPr/>
        </p:nvPicPr>
        <p:blipFill>
          <a:blip r:embed="rId2"/>
          <a:stretch>
            <a:fillRect/>
          </a:stretch>
        </p:blipFill>
        <p:spPr>
          <a:xfrm>
            <a:off x="3708441" y="5518953"/>
            <a:ext cx="209215" cy="209215"/>
          </a:xfrm>
          <a:prstGeom prst="rect">
            <a:avLst/>
          </a:prstGeom>
        </p:spPr>
      </p:pic>
      <p:sp>
        <p:nvSpPr>
          <p:cNvPr id="13" name="Text 9"/>
          <p:cNvSpPr/>
          <p:nvPr/>
        </p:nvSpPr>
        <p:spPr>
          <a:xfrm>
            <a:off x="4114800" y="5422392"/>
            <a:ext cx="2331720" cy="411480"/>
          </a:xfrm>
          <a:prstGeom prst="rect">
            <a:avLst/>
          </a:prstGeom>
          <a:noFill/>
          <a:ln/>
        </p:spPr>
        <p:txBody>
          <a:bodyPr wrap="square" rtlCol="0" anchor="ctr"/>
          <a:lstStyle/>
          <a:p>
            <a:pPr indent="0" marL="0">
              <a:buNone/>
            </a:pPr>
            <a:r>
              <a:rPr lang="en-US" sz="1150" b="1" dirty="0">
                <a:solidFill>
                  <a:srgbClr val="DCE9F1"/>
                </a:solidFill>
                <a:latin typeface="Calibri" pitchFamily="34" charset="0"/>
                <a:ea typeface="Calibri" pitchFamily="34" charset="-122"/>
                <a:cs typeface="Calibri" pitchFamily="34" charset="-120"/>
              </a:rPr>
              <a:t>Quantitative Measurement</a:t>
            </a:r>
            <a:endParaRPr lang="en-US" sz="1150" dirty="0"/>
          </a:p>
        </p:txBody>
      </p:sp>
      <p:sp>
        <p:nvSpPr>
          <p:cNvPr id="14" name="Shape 10"/>
          <p:cNvSpPr/>
          <p:nvPr/>
        </p:nvSpPr>
        <p:spPr>
          <a:xfrm>
            <a:off x="6400800" y="5422392"/>
            <a:ext cx="402336" cy="402336"/>
          </a:xfrm>
          <a:prstGeom prst="ellipse">
            <a:avLst/>
          </a:prstGeom>
          <a:solidFill>
            <a:srgbClr val="12395A"/>
          </a:solidFill>
          <a:ln/>
        </p:spPr>
      </p:sp>
      <p:pic>
        <p:nvPicPr>
          <p:cNvPr id="15" name="Image 2" descr="icons/puzzle_teal.png">    </p:cNvPr>
          <p:cNvPicPr>
            <a:picLocks noChangeAspect="1"/>
          </p:cNvPicPr>
          <p:nvPr/>
        </p:nvPicPr>
        <p:blipFill>
          <a:blip r:embed="rId3"/>
          <a:stretch>
            <a:fillRect/>
          </a:stretch>
        </p:blipFill>
        <p:spPr>
          <a:xfrm>
            <a:off x="6497361" y="5518953"/>
            <a:ext cx="209215" cy="209215"/>
          </a:xfrm>
          <a:prstGeom prst="rect">
            <a:avLst/>
          </a:prstGeom>
        </p:spPr>
      </p:pic>
      <p:sp>
        <p:nvSpPr>
          <p:cNvPr id="16" name="Text 11"/>
          <p:cNvSpPr/>
          <p:nvPr/>
        </p:nvSpPr>
        <p:spPr>
          <a:xfrm>
            <a:off x="6903720" y="5422392"/>
            <a:ext cx="2331720" cy="411480"/>
          </a:xfrm>
          <a:prstGeom prst="rect">
            <a:avLst/>
          </a:prstGeom>
          <a:noFill/>
          <a:ln/>
        </p:spPr>
        <p:txBody>
          <a:bodyPr wrap="square" rtlCol="0" anchor="ctr"/>
          <a:lstStyle/>
          <a:p>
            <a:pPr indent="0" marL="0">
              <a:buNone/>
            </a:pPr>
            <a:r>
              <a:rPr lang="en-US" sz="1150" b="1" dirty="0">
                <a:solidFill>
                  <a:srgbClr val="DCE9F1"/>
                </a:solidFill>
                <a:latin typeface="Calibri" pitchFamily="34" charset="0"/>
                <a:ea typeface="Calibri" pitchFamily="34" charset="-122"/>
                <a:cs typeface="Calibri" pitchFamily="34" charset="-120"/>
              </a:rPr>
              <a:t>Implant-Size Matching</a:t>
            </a:r>
            <a:endParaRPr lang="en-US" sz="1150" dirty="0"/>
          </a:p>
        </p:txBody>
      </p:sp>
      <p:pic>
        <p:nvPicPr>
          <p:cNvPr id="17" name="Image 3" descr="icons/bone_white.png">    </p:cNvPr>
          <p:cNvPicPr>
            <a:picLocks noChangeAspect="1"/>
          </p:cNvPicPr>
          <p:nvPr/>
        </p:nvPicPr>
        <p:blipFill>
          <a:blip r:embed="rId4"/>
          <a:stretch>
            <a:fillRect/>
          </a:stretch>
        </p:blipFill>
        <p:spPr>
          <a:xfrm>
            <a:off x="10835640" y="6126480"/>
            <a:ext cx="502920"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3707A"/>
                </a:solidFill>
                <a:latin typeface="Calibri" pitchFamily="34" charset="0"/>
                <a:ea typeface="Calibri" pitchFamily="34" charset="-122"/>
                <a:cs typeface="Calibri" pitchFamily="34" charset="-120"/>
              </a:rPr>
              <a:t>THE CLINICAL PROBLEM</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0B2E4F"/>
                </a:solidFill>
                <a:latin typeface="Cambria" pitchFamily="34" charset="0"/>
                <a:ea typeface="Cambria" pitchFamily="34" charset="-122"/>
                <a:cs typeface="Cambria" pitchFamily="34" charset="-120"/>
              </a:rPr>
              <a:t>Knee Osteoarthritis Is Common, Disabling —</a:t>
            </a:r>
            <a:endParaRPr lang="en-US" sz="2700" dirty="0"/>
          </a:p>
          <a:p>
            <a:pPr indent="0" marL="0">
              <a:buNone/>
            </a:pPr>
            <a:r>
              <a:rPr lang="en-US" sz="2700" b="1" dirty="0">
                <a:solidFill>
                  <a:srgbClr val="0B2E4F"/>
                </a:solidFill>
                <a:latin typeface="Cambria" pitchFamily="34" charset="0"/>
                <a:ea typeface="Cambria" pitchFamily="34" charset="-122"/>
                <a:cs typeface="Cambria" pitchFamily="34" charset="-120"/>
              </a:rPr>
              <a:t>and Hard to Quantify</a:t>
            </a:r>
            <a:endParaRPr lang="en-US" sz="2700" dirty="0"/>
          </a:p>
        </p:txBody>
      </p:sp>
      <p:sp>
        <p:nvSpPr>
          <p:cNvPr id="4" name="Text 2"/>
          <p:cNvSpPr/>
          <p:nvPr/>
        </p:nvSpPr>
        <p:spPr>
          <a:xfrm>
            <a:off x="548640" y="1965960"/>
            <a:ext cx="5989320" cy="1600200"/>
          </a:xfrm>
          <a:prstGeom prst="rect">
            <a:avLst/>
          </a:prstGeom>
          <a:noFill/>
          <a:ln/>
        </p:spPr>
        <p:txBody>
          <a:bodyPr wrap="square" rtlCol="0" anchor="ctr"/>
          <a:lstStyle/>
          <a:p>
            <a:pPr indent="0" marL="0">
              <a:lnSpc>
                <a:spcPts val="2000"/>
              </a:lnSpc>
              <a:buNone/>
            </a:pPr>
            <a:r>
              <a:rPr lang="en-US" sz="1350" dirty="0">
                <a:solidFill>
                  <a:srgbClr val="5B6B7A"/>
                </a:solidFill>
                <a:latin typeface="Calibri" pitchFamily="34" charset="0"/>
                <a:ea typeface="Calibri" pitchFamily="34" charset="-122"/>
                <a:cs typeface="Calibri" pitchFamily="34" charset="-120"/>
              </a:rPr>
              <a:t>Knee osteoarthritis (OA) is one of the most common degenerative joint disorders, driving pain, stiffness, reduced mobility, and disability. It involves progressive change in cartilage, menisci, subchondral bone, and surrounding tissue — yet evaluation still relies on manual, subjective visual assessment.</a:t>
            </a:r>
            <a:endParaRPr lang="en-US" sz="1350" dirty="0"/>
          </a:p>
        </p:txBody>
      </p:sp>
      <p:sp>
        <p:nvSpPr>
          <p:cNvPr id="5" name="Shape 3"/>
          <p:cNvSpPr/>
          <p:nvPr/>
        </p:nvSpPr>
        <p:spPr>
          <a:xfrm>
            <a:off x="868634" y="2743154"/>
            <a:ext cx="91" cy="91"/>
          </a:xfrm>
          <a:prstGeom prst="ellipse">
            <a:avLst/>
          </a:prstGeom>
          <a:solidFill>
            <a:srgbClr val="E3F4F4"/>
          </a:solidFill>
          <a:ln/>
        </p:spPr>
      </p:sp>
      <p:pic>
        <p:nvPicPr>
          <p:cNvPr id="6" name="Image 0" descr="icons/clock_teal.png">    </p:cNvPr>
          <p:cNvPicPr>
            <a:picLocks noChangeAspect="1"/>
          </p:cNvPicPr>
          <p:nvPr/>
        </p:nvPicPr>
        <p:blipFill>
          <a:blip r:embed="rId1"/>
          <a:stretch>
            <a:fillRect/>
          </a:stretch>
        </p:blipFill>
        <p:spPr>
          <a:xfrm>
            <a:off x="868656" y="2743176"/>
            <a:ext cx="48" cy="48"/>
          </a:xfrm>
          <a:prstGeom prst="rect">
            <a:avLst/>
          </a:prstGeom>
        </p:spPr>
      </p:pic>
      <p:sp>
        <p:nvSpPr>
          <p:cNvPr id="7" name="Shape 4"/>
          <p:cNvSpPr/>
          <p:nvPr/>
        </p:nvSpPr>
        <p:spPr>
          <a:xfrm>
            <a:off x="868634" y="2743154"/>
            <a:ext cx="91" cy="91"/>
          </a:xfrm>
          <a:prstGeom prst="ellipse">
            <a:avLst/>
          </a:prstGeom>
          <a:solidFill>
            <a:srgbClr val="E3F4F4"/>
          </a:solidFill>
          <a:ln/>
        </p:spPr>
      </p:sp>
      <p:pic>
        <p:nvPicPr>
          <p:cNvPr id="8" name="Image 1" descr="icons/users_teal.png">    </p:cNvPr>
          <p:cNvPicPr>
            <a:picLocks noChangeAspect="1"/>
          </p:cNvPicPr>
          <p:nvPr/>
        </p:nvPicPr>
        <p:blipFill>
          <a:blip r:embed="rId2"/>
          <a:stretch>
            <a:fillRect/>
          </a:stretch>
        </p:blipFill>
        <p:spPr>
          <a:xfrm>
            <a:off x="868656" y="2743176"/>
            <a:ext cx="48" cy="48"/>
          </a:xfrm>
          <a:prstGeom prst="rect">
            <a:avLst/>
          </a:prstGeom>
        </p:spPr>
      </p:pic>
      <p:sp>
        <p:nvSpPr>
          <p:cNvPr id="9" name="Shape 5"/>
          <p:cNvSpPr/>
          <p:nvPr/>
        </p:nvSpPr>
        <p:spPr>
          <a:xfrm>
            <a:off x="868634" y="2743154"/>
            <a:ext cx="91" cy="91"/>
          </a:xfrm>
          <a:prstGeom prst="ellipse">
            <a:avLst/>
          </a:prstGeom>
          <a:solidFill>
            <a:srgbClr val="E3F4F4"/>
          </a:solidFill>
          <a:ln/>
        </p:spPr>
      </p:sp>
      <p:pic>
        <p:nvPicPr>
          <p:cNvPr id="10" name="Image 2" descr="icons/chart_teal.png">    </p:cNvPr>
          <p:cNvPicPr>
            <a:picLocks noChangeAspect="1"/>
          </p:cNvPicPr>
          <p:nvPr/>
        </p:nvPicPr>
        <p:blipFill>
          <a:blip r:embed="rId3"/>
          <a:stretch>
            <a:fillRect/>
          </a:stretch>
        </p:blipFill>
        <p:spPr>
          <a:xfrm>
            <a:off x="868656" y="2743176"/>
            <a:ext cx="48" cy="48"/>
          </a:xfrm>
          <a:prstGeom prst="rect">
            <a:avLst/>
          </a:prstGeom>
        </p:spPr>
      </p:pic>
      <p:sp>
        <p:nvSpPr>
          <p:cNvPr id="11" name="Shape 6"/>
          <p:cNvSpPr/>
          <p:nvPr/>
        </p:nvSpPr>
        <p:spPr>
          <a:xfrm>
            <a:off x="6903720" y="1417320"/>
            <a:ext cx="4754880" cy="4937760"/>
          </a:xfrm>
          <a:prstGeom prst="roundRect">
            <a:avLst>
              <a:gd name="adj" fmla="val 2308"/>
            </a:avLst>
          </a:prstGeom>
          <a:solidFill>
            <a:srgbClr val="0B2E4F"/>
          </a:solidFill>
          <a:ln/>
        </p:spPr>
      </p:sp>
      <p:sp>
        <p:nvSpPr>
          <p:cNvPr id="12" name="Text 7"/>
          <p:cNvSpPr/>
          <p:nvPr/>
        </p:nvSpPr>
        <p:spPr>
          <a:xfrm>
            <a:off x="7178040" y="1645920"/>
            <a:ext cx="4206240" cy="320040"/>
          </a:xfrm>
          <a:prstGeom prst="rect">
            <a:avLst/>
          </a:prstGeom>
          <a:noFill/>
          <a:ln/>
        </p:spPr>
        <p:txBody>
          <a:bodyPr wrap="square" rtlCol="0" anchor="ctr"/>
          <a:lstStyle/>
          <a:p>
            <a:pPr indent="0" marL="0">
              <a:buNone/>
            </a:pPr>
            <a:r>
              <a:rPr lang="en-US" sz="1100" b="1" spc="150" kern="0" dirty="0">
                <a:solidFill>
                  <a:srgbClr val="6FD6DB"/>
                </a:solidFill>
                <a:latin typeface="Calibri" pitchFamily="34" charset="0"/>
                <a:ea typeface="Calibri" pitchFamily="34" charset="-122"/>
                <a:cs typeface="Calibri" pitchFamily="34" charset="-120"/>
              </a:rPr>
              <a:t>KNEE JOINT — STRUCTURES AFFECTED</a:t>
            </a:r>
            <a:endParaRPr lang="en-US" sz="1100" dirty="0"/>
          </a:p>
        </p:txBody>
      </p:sp>
      <p:sp>
        <p:nvSpPr>
          <p:cNvPr id="13" name="Shape 8"/>
          <p:cNvSpPr/>
          <p:nvPr/>
        </p:nvSpPr>
        <p:spPr>
          <a:xfrm>
            <a:off x="7351776" y="2157984"/>
            <a:ext cx="566928" cy="566928"/>
          </a:xfrm>
          <a:prstGeom prst="ellipse">
            <a:avLst/>
          </a:prstGeom>
          <a:solidFill>
            <a:srgbClr val="FFFFFF"/>
          </a:solidFill>
          <a:ln/>
        </p:spPr>
      </p:sp>
      <p:pic>
        <p:nvPicPr>
          <p:cNvPr id="14" name="Image 3" descr="icons/bone_navy.png">    </p:cNvPr>
          <p:cNvPicPr>
            <a:picLocks noChangeAspect="1"/>
          </p:cNvPicPr>
          <p:nvPr/>
        </p:nvPicPr>
        <p:blipFill>
          <a:blip r:embed="rId4"/>
          <a:stretch>
            <a:fillRect/>
          </a:stretch>
        </p:blipFill>
        <p:spPr>
          <a:xfrm>
            <a:off x="7487839" y="2294047"/>
            <a:ext cx="294803" cy="294803"/>
          </a:xfrm>
          <a:prstGeom prst="rect">
            <a:avLst/>
          </a:prstGeom>
        </p:spPr>
      </p:pic>
      <p:sp>
        <p:nvSpPr>
          <p:cNvPr id="15" name="Text 9"/>
          <p:cNvSpPr/>
          <p:nvPr/>
        </p:nvSpPr>
        <p:spPr>
          <a:xfrm>
            <a:off x="8046720" y="2148840"/>
            <a:ext cx="3383280" cy="29260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Femur</a:t>
            </a:r>
            <a:endParaRPr lang="en-US" sz="1350" dirty="0"/>
          </a:p>
        </p:txBody>
      </p:sp>
      <p:sp>
        <p:nvSpPr>
          <p:cNvPr id="16" name="Text 10"/>
          <p:cNvSpPr/>
          <p:nvPr/>
        </p:nvSpPr>
        <p:spPr>
          <a:xfrm>
            <a:off x="8046720" y="2441448"/>
            <a:ext cx="3429000" cy="502920"/>
          </a:xfrm>
          <a:prstGeom prst="rect">
            <a:avLst/>
          </a:prstGeom>
          <a:noFill/>
          <a:ln/>
        </p:spPr>
        <p:txBody>
          <a:bodyPr wrap="square" rtlCol="0" anchor="ctr"/>
          <a:lstStyle/>
          <a:p>
            <a:pPr indent="0" marL="0">
              <a:lnSpc>
                <a:spcPts val="1300"/>
              </a:lnSpc>
              <a:buNone/>
            </a:pPr>
            <a:r>
              <a:rPr lang="en-US" sz="1050" dirty="0">
                <a:solidFill>
                  <a:srgbClr val="AFC6D6"/>
                </a:solidFill>
                <a:latin typeface="Calibri" pitchFamily="34" charset="0"/>
                <a:ea typeface="Calibri" pitchFamily="34" charset="-122"/>
                <a:cs typeface="Calibri" pitchFamily="34" charset="-120"/>
              </a:rPr>
              <a:t>Lower thigh bone forming the upper joint surface</a:t>
            </a:r>
            <a:endParaRPr lang="en-US" sz="1050" dirty="0"/>
          </a:p>
        </p:txBody>
      </p:sp>
      <p:sp>
        <p:nvSpPr>
          <p:cNvPr id="17" name="Shape 11"/>
          <p:cNvSpPr/>
          <p:nvPr/>
        </p:nvSpPr>
        <p:spPr>
          <a:xfrm>
            <a:off x="7351776" y="3118104"/>
            <a:ext cx="566928" cy="566928"/>
          </a:xfrm>
          <a:prstGeom prst="ellipse">
            <a:avLst/>
          </a:prstGeom>
          <a:solidFill>
            <a:srgbClr val="FFFFFF"/>
          </a:solidFill>
          <a:ln/>
        </p:spPr>
      </p:sp>
      <p:pic>
        <p:nvPicPr>
          <p:cNvPr id="18" name="Image 4" descr="icons/layers_navy.png">    </p:cNvPr>
          <p:cNvPicPr>
            <a:picLocks noChangeAspect="1"/>
          </p:cNvPicPr>
          <p:nvPr/>
        </p:nvPicPr>
        <p:blipFill>
          <a:blip r:embed="rId5"/>
          <a:stretch>
            <a:fillRect/>
          </a:stretch>
        </p:blipFill>
        <p:spPr>
          <a:xfrm>
            <a:off x="7487839" y="3254167"/>
            <a:ext cx="294803" cy="294803"/>
          </a:xfrm>
          <a:prstGeom prst="rect">
            <a:avLst/>
          </a:prstGeom>
        </p:spPr>
      </p:pic>
      <p:sp>
        <p:nvSpPr>
          <p:cNvPr id="19" name="Text 12"/>
          <p:cNvSpPr/>
          <p:nvPr/>
        </p:nvSpPr>
        <p:spPr>
          <a:xfrm>
            <a:off x="8046720" y="3108960"/>
            <a:ext cx="3383280" cy="29260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Medial Meniscus</a:t>
            </a:r>
            <a:endParaRPr lang="en-US" sz="1350" dirty="0"/>
          </a:p>
        </p:txBody>
      </p:sp>
      <p:sp>
        <p:nvSpPr>
          <p:cNvPr id="20" name="Text 13"/>
          <p:cNvSpPr/>
          <p:nvPr/>
        </p:nvSpPr>
        <p:spPr>
          <a:xfrm>
            <a:off x="8046720" y="3401568"/>
            <a:ext cx="3429000" cy="502920"/>
          </a:xfrm>
          <a:prstGeom prst="rect">
            <a:avLst/>
          </a:prstGeom>
          <a:noFill/>
          <a:ln/>
        </p:spPr>
        <p:txBody>
          <a:bodyPr wrap="square" rtlCol="0" anchor="ctr"/>
          <a:lstStyle/>
          <a:p>
            <a:pPr indent="0" marL="0">
              <a:lnSpc>
                <a:spcPts val="1300"/>
              </a:lnSpc>
              <a:buNone/>
            </a:pPr>
            <a:r>
              <a:rPr lang="en-US" sz="1050" dirty="0">
                <a:solidFill>
                  <a:srgbClr val="AFC6D6"/>
                </a:solidFill>
                <a:latin typeface="Calibri" pitchFamily="34" charset="0"/>
                <a:ea typeface="Calibri" pitchFamily="34" charset="-122"/>
                <a:cs typeface="Calibri" pitchFamily="34" charset="-120"/>
              </a:rPr>
              <a:t>Load distribution, shock absorption, joint stability</a:t>
            </a:r>
            <a:endParaRPr lang="en-US" sz="1050" dirty="0"/>
          </a:p>
        </p:txBody>
      </p:sp>
      <p:sp>
        <p:nvSpPr>
          <p:cNvPr id="21" name="Shape 14"/>
          <p:cNvSpPr/>
          <p:nvPr/>
        </p:nvSpPr>
        <p:spPr>
          <a:xfrm>
            <a:off x="7351776" y="4078224"/>
            <a:ext cx="566928" cy="566928"/>
          </a:xfrm>
          <a:prstGeom prst="ellipse">
            <a:avLst/>
          </a:prstGeom>
          <a:solidFill>
            <a:srgbClr val="FFFFFF"/>
          </a:solidFill>
          <a:ln/>
        </p:spPr>
      </p:sp>
      <p:pic>
        <p:nvPicPr>
          <p:cNvPr id="22" name="Image 5" descr="icons/bone_navy.png">    </p:cNvPr>
          <p:cNvPicPr>
            <a:picLocks noChangeAspect="1"/>
          </p:cNvPicPr>
          <p:nvPr/>
        </p:nvPicPr>
        <p:blipFill>
          <a:blip r:embed="rId6"/>
          <a:stretch>
            <a:fillRect/>
          </a:stretch>
        </p:blipFill>
        <p:spPr>
          <a:xfrm>
            <a:off x="7487839" y="4214287"/>
            <a:ext cx="294803" cy="294803"/>
          </a:xfrm>
          <a:prstGeom prst="rect">
            <a:avLst/>
          </a:prstGeom>
        </p:spPr>
      </p:pic>
      <p:sp>
        <p:nvSpPr>
          <p:cNvPr id="23" name="Text 15"/>
          <p:cNvSpPr/>
          <p:nvPr/>
        </p:nvSpPr>
        <p:spPr>
          <a:xfrm>
            <a:off x="8046720" y="4069080"/>
            <a:ext cx="3383280" cy="29260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Tibia</a:t>
            </a:r>
            <a:endParaRPr lang="en-US" sz="1350" dirty="0"/>
          </a:p>
        </p:txBody>
      </p:sp>
      <p:sp>
        <p:nvSpPr>
          <p:cNvPr id="24" name="Text 16"/>
          <p:cNvSpPr/>
          <p:nvPr/>
        </p:nvSpPr>
        <p:spPr>
          <a:xfrm>
            <a:off x="8046720" y="4361688"/>
            <a:ext cx="3429000" cy="502920"/>
          </a:xfrm>
          <a:prstGeom prst="rect">
            <a:avLst/>
          </a:prstGeom>
          <a:noFill/>
          <a:ln/>
        </p:spPr>
        <p:txBody>
          <a:bodyPr wrap="square" rtlCol="0" anchor="ctr"/>
          <a:lstStyle/>
          <a:p>
            <a:pPr indent="0" marL="0">
              <a:lnSpc>
                <a:spcPts val="1300"/>
              </a:lnSpc>
              <a:buNone/>
            </a:pPr>
            <a:r>
              <a:rPr lang="en-US" sz="1050" dirty="0">
                <a:solidFill>
                  <a:srgbClr val="AFC6D6"/>
                </a:solidFill>
                <a:latin typeface="Calibri" pitchFamily="34" charset="0"/>
                <a:ea typeface="Calibri" pitchFamily="34" charset="-122"/>
                <a:cs typeface="Calibri" pitchFamily="34" charset="-120"/>
              </a:rPr>
              <a:t>Shin bone forming the lower joint surface</a:t>
            </a:r>
            <a:endParaRPr lang="en-US" sz="1050" dirty="0"/>
          </a:p>
        </p:txBody>
      </p:sp>
      <p:sp>
        <p:nvSpPr>
          <p:cNvPr id="25" name="Shape 17"/>
          <p:cNvSpPr/>
          <p:nvPr/>
        </p:nvSpPr>
        <p:spPr>
          <a:xfrm>
            <a:off x="7351776" y="5038344"/>
            <a:ext cx="566928" cy="566928"/>
          </a:xfrm>
          <a:prstGeom prst="ellipse">
            <a:avLst/>
          </a:prstGeom>
          <a:solidFill>
            <a:srgbClr val="FFFFFF"/>
          </a:solidFill>
          <a:ln/>
        </p:spPr>
      </p:sp>
      <p:pic>
        <p:nvPicPr>
          <p:cNvPr id="26" name="Image 6" descr="icons/warning_navy.png">    </p:cNvPr>
          <p:cNvPicPr>
            <a:picLocks noChangeAspect="1"/>
          </p:cNvPicPr>
          <p:nvPr/>
        </p:nvPicPr>
        <p:blipFill>
          <a:blip r:embed="rId7"/>
          <a:stretch>
            <a:fillRect/>
          </a:stretch>
        </p:blipFill>
        <p:spPr>
          <a:xfrm>
            <a:off x="7487839" y="5174407"/>
            <a:ext cx="294803" cy="294803"/>
          </a:xfrm>
          <a:prstGeom prst="rect">
            <a:avLst/>
          </a:prstGeom>
        </p:spPr>
      </p:pic>
      <p:sp>
        <p:nvSpPr>
          <p:cNvPr id="27" name="Text 18"/>
          <p:cNvSpPr/>
          <p:nvPr/>
        </p:nvSpPr>
        <p:spPr>
          <a:xfrm>
            <a:off x="8046720" y="5029200"/>
            <a:ext cx="3383280" cy="292608"/>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Articular Cartilage</a:t>
            </a:r>
            <a:endParaRPr lang="en-US" sz="1350" dirty="0"/>
          </a:p>
        </p:txBody>
      </p:sp>
      <p:sp>
        <p:nvSpPr>
          <p:cNvPr id="28" name="Text 19"/>
          <p:cNvSpPr/>
          <p:nvPr/>
        </p:nvSpPr>
        <p:spPr>
          <a:xfrm>
            <a:off x="8046720" y="5321808"/>
            <a:ext cx="3429000" cy="502920"/>
          </a:xfrm>
          <a:prstGeom prst="rect">
            <a:avLst/>
          </a:prstGeom>
          <a:noFill/>
          <a:ln/>
        </p:spPr>
        <p:txBody>
          <a:bodyPr wrap="square" rtlCol="0" anchor="ctr"/>
          <a:lstStyle/>
          <a:p>
            <a:pPr indent="0" marL="0">
              <a:lnSpc>
                <a:spcPts val="1300"/>
              </a:lnSpc>
              <a:buNone/>
            </a:pPr>
            <a:r>
              <a:rPr lang="en-US" sz="1050" dirty="0">
                <a:solidFill>
                  <a:srgbClr val="AFC6D6"/>
                </a:solidFill>
                <a:latin typeface="Calibri" pitchFamily="34" charset="0"/>
                <a:ea typeface="Calibri" pitchFamily="34" charset="-122"/>
                <a:cs typeface="Calibri" pitchFamily="34" charset="-120"/>
              </a:rPr>
              <a:t>Smooth cushioning tissue — degrades progressively in OA</a:t>
            </a:r>
            <a:endParaRPr lang="en-US" sz="1050" dirty="0"/>
          </a:p>
        </p:txBody>
      </p:sp>
      <p:sp>
        <p:nvSpPr>
          <p:cNvPr id="29" name="Shape 20"/>
          <p:cNvSpPr/>
          <p:nvPr/>
        </p:nvSpPr>
        <p:spPr>
          <a:xfrm>
            <a:off x="612648" y="3721608"/>
            <a:ext cx="566928" cy="566928"/>
          </a:xfrm>
          <a:prstGeom prst="ellipse">
            <a:avLst/>
          </a:prstGeom>
          <a:solidFill>
            <a:srgbClr val="E3F4F4"/>
          </a:solidFill>
          <a:ln/>
        </p:spPr>
      </p:sp>
      <p:pic>
        <p:nvPicPr>
          <p:cNvPr id="30" name="Image 7" descr="icons/clock_teal.png">    </p:cNvPr>
          <p:cNvPicPr>
            <a:picLocks noChangeAspect="1"/>
          </p:cNvPicPr>
          <p:nvPr/>
        </p:nvPicPr>
        <p:blipFill>
          <a:blip r:embed="rId8"/>
          <a:stretch>
            <a:fillRect/>
          </a:stretch>
        </p:blipFill>
        <p:spPr>
          <a:xfrm>
            <a:off x="748711" y="3857671"/>
            <a:ext cx="294803" cy="294803"/>
          </a:xfrm>
          <a:prstGeom prst="rect">
            <a:avLst/>
          </a:prstGeom>
        </p:spPr>
      </p:pic>
      <p:sp>
        <p:nvSpPr>
          <p:cNvPr id="31" name="Text 21"/>
          <p:cNvSpPr/>
          <p:nvPr/>
        </p:nvSpPr>
        <p:spPr>
          <a:xfrm>
            <a:off x="1325880" y="3703320"/>
            <a:ext cx="5120640" cy="274320"/>
          </a:xfrm>
          <a:prstGeom prst="rect">
            <a:avLst/>
          </a:prstGeom>
          <a:noFill/>
          <a:ln/>
        </p:spPr>
        <p:txBody>
          <a:bodyPr wrap="square" rtlCol="0" anchor="ctr"/>
          <a:lstStyle/>
          <a:p>
            <a:pPr indent="0" marL="0">
              <a:buNone/>
            </a:pPr>
            <a:r>
              <a:rPr lang="en-US" sz="1350" b="1" dirty="0">
                <a:solidFill>
                  <a:srgbClr val="16283A"/>
                </a:solidFill>
                <a:latin typeface="Calibri" pitchFamily="34" charset="0"/>
                <a:ea typeface="Calibri" pitchFamily="34" charset="-122"/>
                <a:cs typeface="Calibri" pitchFamily="34" charset="-120"/>
              </a:rPr>
              <a:t>Time-Consuming</a:t>
            </a:r>
            <a:endParaRPr lang="en-US" sz="1350" dirty="0"/>
          </a:p>
        </p:txBody>
      </p:sp>
      <p:sp>
        <p:nvSpPr>
          <p:cNvPr id="32" name="Text 22"/>
          <p:cNvSpPr/>
          <p:nvPr/>
        </p:nvSpPr>
        <p:spPr>
          <a:xfrm>
            <a:off x="1325880" y="3977640"/>
            <a:ext cx="5212080" cy="502920"/>
          </a:xfrm>
          <a:prstGeom prst="rect">
            <a:avLst/>
          </a:prstGeom>
          <a:noFill/>
          <a:ln/>
        </p:spPr>
        <p:txBody>
          <a:bodyPr wrap="square" rtlCol="0" anchor="ctr"/>
          <a:lstStyle/>
          <a:p>
            <a:pPr indent="0" marL="0">
              <a:lnSpc>
                <a:spcPts val="1400"/>
              </a:lnSpc>
              <a:buNone/>
            </a:pPr>
            <a:r>
              <a:rPr lang="en-US" sz="1100" dirty="0">
                <a:solidFill>
                  <a:srgbClr val="5B6B7A"/>
                </a:solidFill>
                <a:latin typeface="Calibri" pitchFamily="34" charset="0"/>
                <a:ea typeface="Calibri" pitchFamily="34" charset="-122"/>
                <a:cs typeface="Calibri" pitchFamily="34" charset="-120"/>
              </a:rPr>
              <a:t>Manual measurement from MRI/X-ray slows radiology and surgical-planning workflows.</a:t>
            </a:r>
            <a:endParaRPr lang="en-US" sz="1100" dirty="0"/>
          </a:p>
        </p:txBody>
      </p:sp>
      <p:sp>
        <p:nvSpPr>
          <p:cNvPr id="33" name="Shape 23"/>
          <p:cNvSpPr/>
          <p:nvPr/>
        </p:nvSpPr>
        <p:spPr>
          <a:xfrm>
            <a:off x="612648" y="4590288"/>
            <a:ext cx="566928" cy="566928"/>
          </a:xfrm>
          <a:prstGeom prst="ellipse">
            <a:avLst/>
          </a:prstGeom>
          <a:solidFill>
            <a:srgbClr val="E3F4F4"/>
          </a:solidFill>
          <a:ln/>
        </p:spPr>
      </p:sp>
      <p:pic>
        <p:nvPicPr>
          <p:cNvPr id="34" name="Image 8" descr="icons/users_teal.png">    </p:cNvPr>
          <p:cNvPicPr>
            <a:picLocks noChangeAspect="1"/>
          </p:cNvPicPr>
          <p:nvPr/>
        </p:nvPicPr>
        <p:blipFill>
          <a:blip r:embed="rId9"/>
          <a:stretch>
            <a:fillRect/>
          </a:stretch>
        </p:blipFill>
        <p:spPr>
          <a:xfrm>
            <a:off x="748711" y="4726351"/>
            <a:ext cx="294803" cy="294803"/>
          </a:xfrm>
          <a:prstGeom prst="rect">
            <a:avLst/>
          </a:prstGeom>
        </p:spPr>
      </p:pic>
      <p:sp>
        <p:nvSpPr>
          <p:cNvPr id="35" name="Text 24"/>
          <p:cNvSpPr/>
          <p:nvPr/>
        </p:nvSpPr>
        <p:spPr>
          <a:xfrm>
            <a:off x="1325880" y="4572000"/>
            <a:ext cx="5120640" cy="274320"/>
          </a:xfrm>
          <a:prstGeom prst="rect">
            <a:avLst/>
          </a:prstGeom>
          <a:noFill/>
          <a:ln/>
        </p:spPr>
        <p:txBody>
          <a:bodyPr wrap="square" rtlCol="0" anchor="ctr"/>
          <a:lstStyle/>
          <a:p>
            <a:pPr indent="0" marL="0">
              <a:buNone/>
            </a:pPr>
            <a:r>
              <a:rPr lang="en-US" sz="1350" b="1" dirty="0">
                <a:solidFill>
                  <a:srgbClr val="16283A"/>
                </a:solidFill>
                <a:latin typeface="Calibri" pitchFamily="34" charset="0"/>
                <a:ea typeface="Calibri" pitchFamily="34" charset="-122"/>
                <a:cs typeface="Calibri" pitchFamily="34" charset="-120"/>
              </a:rPr>
              <a:t>Inter-Observer Variation</a:t>
            </a:r>
            <a:endParaRPr lang="en-US" sz="1350" dirty="0"/>
          </a:p>
        </p:txBody>
      </p:sp>
      <p:sp>
        <p:nvSpPr>
          <p:cNvPr id="36" name="Text 25"/>
          <p:cNvSpPr/>
          <p:nvPr/>
        </p:nvSpPr>
        <p:spPr>
          <a:xfrm>
            <a:off x="1325880" y="4846320"/>
            <a:ext cx="5212080" cy="502920"/>
          </a:xfrm>
          <a:prstGeom prst="rect">
            <a:avLst/>
          </a:prstGeom>
          <a:noFill/>
          <a:ln/>
        </p:spPr>
        <p:txBody>
          <a:bodyPr wrap="square" rtlCol="0" anchor="ctr"/>
          <a:lstStyle/>
          <a:p>
            <a:pPr indent="0" marL="0">
              <a:lnSpc>
                <a:spcPts val="1400"/>
              </a:lnSpc>
              <a:buNone/>
            </a:pPr>
            <a:r>
              <a:rPr lang="en-US" sz="1100" dirty="0">
                <a:solidFill>
                  <a:srgbClr val="5B6B7A"/>
                </a:solidFill>
                <a:latin typeface="Calibri" pitchFamily="34" charset="0"/>
                <a:ea typeface="Calibri" pitchFamily="34" charset="-122"/>
                <a:cs typeface="Calibri" pitchFamily="34" charset="-120"/>
              </a:rPr>
              <a:t>Visual grading differs between radiologists and orthopedic specialists.</a:t>
            </a:r>
            <a:endParaRPr lang="en-US" sz="1100" dirty="0"/>
          </a:p>
        </p:txBody>
      </p:sp>
      <p:sp>
        <p:nvSpPr>
          <p:cNvPr id="37" name="Shape 26"/>
          <p:cNvSpPr/>
          <p:nvPr/>
        </p:nvSpPr>
        <p:spPr>
          <a:xfrm>
            <a:off x="612648" y="5458968"/>
            <a:ext cx="566928" cy="566928"/>
          </a:xfrm>
          <a:prstGeom prst="ellipse">
            <a:avLst/>
          </a:prstGeom>
          <a:solidFill>
            <a:srgbClr val="E3F4F4"/>
          </a:solidFill>
          <a:ln/>
        </p:spPr>
      </p:sp>
      <p:pic>
        <p:nvPicPr>
          <p:cNvPr id="38" name="Image 9" descr="icons/chart_teal.png">    </p:cNvPr>
          <p:cNvPicPr>
            <a:picLocks noChangeAspect="1"/>
          </p:cNvPicPr>
          <p:nvPr/>
        </p:nvPicPr>
        <p:blipFill>
          <a:blip r:embed="rId10"/>
          <a:stretch>
            <a:fillRect/>
          </a:stretch>
        </p:blipFill>
        <p:spPr>
          <a:xfrm>
            <a:off x="748711" y="5595031"/>
            <a:ext cx="294803" cy="294803"/>
          </a:xfrm>
          <a:prstGeom prst="rect">
            <a:avLst/>
          </a:prstGeom>
        </p:spPr>
      </p:pic>
      <p:sp>
        <p:nvSpPr>
          <p:cNvPr id="39" name="Text 27"/>
          <p:cNvSpPr/>
          <p:nvPr/>
        </p:nvSpPr>
        <p:spPr>
          <a:xfrm>
            <a:off x="1325880" y="5440680"/>
            <a:ext cx="5120640" cy="274320"/>
          </a:xfrm>
          <a:prstGeom prst="rect">
            <a:avLst/>
          </a:prstGeom>
          <a:noFill/>
          <a:ln/>
        </p:spPr>
        <p:txBody>
          <a:bodyPr wrap="square" rtlCol="0" anchor="ctr"/>
          <a:lstStyle/>
          <a:p>
            <a:pPr indent="0" marL="0">
              <a:buNone/>
            </a:pPr>
            <a:r>
              <a:rPr lang="en-US" sz="1350" b="1" dirty="0">
                <a:solidFill>
                  <a:srgbClr val="16283A"/>
                </a:solidFill>
                <a:latin typeface="Calibri" pitchFamily="34" charset="0"/>
                <a:ea typeface="Calibri" pitchFamily="34" charset="-122"/>
                <a:cs typeface="Calibri" pitchFamily="34" charset="-120"/>
              </a:rPr>
              <a:t>Under-Used Data</a:t>
            </a:r>
            <a:endParaRPr lang="en-US" sz="1350" dirty="0"/>
          </a:p>
        </p:txBody>
      </p:sp>
      <p:sp>
        <p:nvSpPr>
          <p:cNvPr id="40" name="Text 28"/>
          <p:cNvSpPr/>
          <p:nvPr/>
        </p:nvSpPr>
        <p:spPr>
          <a:xfrm>
            <a:off x="1325880" y="5715000"/>
            <a:ext cx="5212080" cy="502920"/>
          </a:xfrm>
          <a:prstGeom prst="rect">
            <a:avLst/>
          </a:prstGeom>
          <a:noFill/>
          <a:ln/>
        </p:spPr>
        <p:txBody>
          <a:bodyPr wrap="square" rtlCol="0" anchor="ctr"/>
          <a:lstStyle/>
          <a:p>
            <a:pPr indent="0" marL="0">
              <a:lnSpc>
                <a:spcPts val="1400"/>
              </a:lnSpc>
              <a:buNone/>
            </a:pPr>
            <a:r>
              <a:rPr lang="en-US" sz="1100" dirty="0">
                <a:solidFill>
                  <a:srgbClr val="5B6B7A"/>
                </a:solidFill>
                <a:latin typeface="Calibri" pitchFamily="34" charset="0"/>
                <a:ea typeface="Calibri" pitchFamily="34" charset="-122"/>
                <a:cs typeface="Calibri" pitchFamily="34" charset="-120"/>
              </a:rPr>
              <a:t>Structural change is described qualitatively, not tracked as reproducible numbers.</a:t>
            </a:r>
            <a:endParaRPr lang="en-US" sz="1100" dirty="0"/>
          </a:p>
        </p:txBody>
      </p:sp>
      <p:sp>
        <p:nvSpPr>
          <p:cNvPr id="41" name="Text 29"/>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AA7B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3707A"/>
                </a:solidFill>
                <a:latin typeface="Calibri" pitchFamily="34" charset="0"/>
                <a:ea typeface="Calibri" pitchFamily="34" charset="-122"/>
                <a:cs typeface="Calibri" pitchFamily="34" charset="-120"/>
              </a:rPr>
              <a:t>WHY THE MENISCUS MATTERS</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0B2E4F"/>
                </a:solidFill>
                <a:latin typeface="Cambria" pitchFamily="34" charset="0"/>
                <a:ea typeface="Cambria" pitchFamily="34" charset="-122"/>
                <a:cs typeface="Cambria" pitchFamily="34" charset="-120"/>
              </a:rPr>
              <a:t>A Small Structure With an Outsized Clinical Role</a:t>
            </a:r>
            <a:endParaRPr lang="en-US" sz="2700" dirty="0"/>
          </a:p>
        </p:txBody>
      </p:sp>
      <p:sp>
        <p:nvSpPr>
          <p:cNvPr id="4" name="Text 2"/>
          <p:cNvSpPr/>
          <p:nvPr/>
        </p:nvSpPr>
        <p:spPr>
          <a:xfrm>
            <a:off x="548640" y="1508760"/>
            <a:ext cx="10607040" cy="640080"/>
          </a:xfrm>
          <a:prstGeom prst="rect">
            <a:avLst/>
          </a:prstGeom>
          <a:noFill/>
          <a:ln/>
        </p:spPr>
        <p:txBody>
          <a:bodyPr wrap="square" rtlCol="0" anchor="ctr"/>
          <a:lstStyle/>
          <a:p>
            <a:pPr indent="0" marL="0">
              <a:lnSpc>
                <a:spcPts val="1900"/>
              </a:lnSpc>
              <a:buNone/>
            </a:pPr>
            <a:r>
              <a:rPr lang="en-US" sz="1350" dirty="0">
                <a:solidFill>
                  <a:srgbClr val="5B6B7A"/>
                </a:solidFill>
                <a:latin typeface="Calibri" pitchFamily="34" charset="0"/>
                <a:ea typeface="Calibri" pitchFamily="34" charset="-122"/>
                <a:cs typeface="Calibri" pitchFamily="34" charset="-120"/>
              </a:rPr>
              <a:t>The medial meniscus governs load distribution, shock absorption, and cartilage protection. Changes in its thickness track with OA progression and severity — but it is genuinely hard to measure well.</a:t>
            </a:r>
            <a:endParaRPr lang="en-US" sz="1350" dirty="0"/>
          </a:p>
        </p:txBody>
      </p:sp>
      <p:sp>
        <p:nvSpPr>
          <p:cNvPr id="5" name="Text 3"/>
          <p:cNvSpPr/>
          <p:nvPr/>
        </p:nvSpPr>
        <p:spPr>
          <a:xfrm>
            <a:off x="548640" y="2331720"/>
            <a:ext cx="3657600" cy="274320"/>
          </a:xfrm>
          <a:prstGeom prst="rect">
            <a:avLst/>
          </a:prstGeom>
          <a:noFill/>
          <a:ln/>
        </p:spPr>
        <p:txBody>
          <a:bodyPr wrap="square" rtlCol="0" anchor="ctr"/>
          <a:lstStyle/>
          <a:p>
            <a:pPr indent="0" marL="0">
              <a:buNone/>
            </a:pPr>
            <a:r>
              <a:rPr lang="en-US" sz="1200" b="1" spc="150" kern="0" dirty="0">
                <a:solidFill>
                  <a:srgbClr val="13707A"/>
                </a:solidFill>
                <a:latin typeface="Calibri" pitchFamily="34" charset="0"/>
                <a:ea typeface="Calibri" pitchFamily="34" charset="-122"/>
                <a:cs typeface="Calibri" pitchFamily="34" charset="-120"/>
              </a:rPr>
              <a:t>CLINICAL ROLE</a:t>
            </a:r>
            <a:endParaRPr lang="en-US" sz="1200" dirty="0"/>
          </a:p>
        </p:txBody>
      </p:sp>
      <p:sp>
        <p:nvSpPr>
          <p:cNvPr id="6" name="Shape 4"/>
          <p:cNvSpPr/>
          <p:nvPr/>
        </p:nvSpPr>
        <p:spPr>
          <a:xfrm>
            <a:off x="548640" y="2743200"/>
            <a:ext cx="5212080" cy="960120"/>
          </a:xfrm>
          <a:prstGeom prst="roundRect">
            <a:avLst>
              <a:gd name="adj" fmla="val 7619"/>
            </a:avLst>
          </a:prstGeom>
          <a:solidFill>
            <a:srgbClr val="FFFFFF"/>
          </a:solidFill>
          <a:ln w="12700">
            <a:solidFill>
              <a:srgbClr val="DCE6E8"/>
            </a:solidFill>
            <a:prstDash val="solid"/>
          </a:ln>
        </p:spPr>
      </p:sp>
      <p:sp>
        <p:nvSpPr>
          <p:cNvPr id="7" name="Shape 5"/>
          <p:cNvSpPr/>
          <p:nvPr/>
        </p:nvSpPr>
        <p:spPr>
          <a:xfrm>
            <a:off x="800100" y="2971800"/>
            <a:ext cx="502920" cy="502920"/>
          </a:xfrm>
          <a:prstGeom prst="ellipse">
            <a:avLst/>
          </a:prstGeom>
          <a:solidFill>
            <a:srgbClr val="E3F4F4"/>
          </a:solidFill>
          <a:ln/>
        </p:spPr>
      </p:sp>
      <p:pic>
        <p:nvPicPr>
          <p:cNvPr id="8" name="Image 0" descr="icons/shield_teal.png">    </p:cNvPr>
          <p:cNvPicPr>
            <a:picLocks noChangeAspect="1"/>
          </p:cNvPicPr>
          <p:nvPr/>
        </p:nvPicPr>
        <p:blipFill>
          <a:blip r:embed="rId1"/>
          <a:stretch>
            <a:fillRect/>
          </a:stretch>
        </p:blipFill>
        <p:spPr>
          <a:xfrm>
            <a:off x="920801" y="3092501"/>
            <a:ext cx="261518" cy="261518"/>
          </a:xfrm>
          <a:prstGeom prst="rect">
            <a:avLst/>
          </a:prstGeom>
        </p:spPr>
      </p:pic>
      <p:sp>
        <p:nvSpPr>
          <p:cNvPr id="9" name="Text 6"/>
          <p:cNvSpPr/>
          <p:nvPr/>
        </p:nvSpPr>
        <p:spPr>
          <a:xfrm>
            <a:off x="1417320" y="2862072"/>
            <a:ext cx="4206240" cy="292608"/>
          </a:xfrm>
          <a:prstGeom prst="rect">
            <a:avLst/>
          </a:prstGeom>
          <a:noFill/>
          <a:ln/>
        </p:spPr>
        <p:txBody>
          <a:bodyPr wrap="square" rtlCol="0" anchor="ctr"/>
          <a:lstStyle/>
          <a:p>
            <a:pPr indent="0" marL="0">
              <a:buNone/>
            </a:pPr>
            <a:r>
              <a:rPr lang="en-US" sz="1250" b="1" dirty="0">
                <a:solidFill>
                  <a:srgbClr val="16283A"/>
                </a:solidFill>
                <a:latin typeface="Calibri" pitchFamily="34" charset="0"/>
                <a:ea typeface="Calibri" pitchFamily="34" charset="-122"/>
                <a:cs typeface="Calibri" pitchFamily="34" charset="-120"/>
              </a:rPr>
              <a:t>Shock Absorption &amp; Load Distribution</a:t>
            </a:r>
            <a:endParaRPr lang="en-US" sz="1250" dirty="0"/>
          </a:p>
        </p:txBody>
      </p:sp>
      <p:sp>
        <p:nvSpPr>
          <p:cNvPr id="10" name="Text 7"/>
          <p:cNvSpPr/>
          <p:nvPr/>
        </p:nvSpPr>
        <p:spPr>
          <a:xfrm>
            <a:off x="1417320" y="3163824"/>
            <a:ext cx="4206240" cy="45720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Cushions the femur-tibia interface during daily loading.</a:t>
            </a:r>
            <a:endParaRPr lang="en-US" sz="1050" dirty="0"/>
          </a:p>
        </p:txBody>
      </p:sp>
      <p:sp>
        <p:nvSpPr>
          <p:cNvPr id="11" name="Shape 8"/>
          <p:cNvSpPr/>
          <p:nvPr/>
        </p:nvSpPr>
        <p:spPr>
          <a:xfrm>
            <a:off x="548640" y="3840480"/>
            <a:ext cx="5212080" cy="960120"/>
          </a:xfrm>
          <a:prstGeom prst="roundRect">
            <a:avLst>
              <a:gd name="adj" fmla="val 7619"/>
            </a:avLst>
          </a:prstGeom>
          <a:solidFill>
            <a:srgbClr val="FFFFFF"/>
          </a:solidFill>
          <a:ln w="12700">
            <a:solidFill>
              <a:srgbClr val="DCE6E8"/>
            </a:solidFill>
            <a:prstDash val="solid"/>
          </a:ln>
        </p:spPr>
      </p:sp>
      <p:sp>
        <p:nvSpPr>
          <p:cNvPr id="12" name="Shape 9"/>
          <p:cNvSpPr/>
          <p:nvPr/>
        </p:nvSpPr>
        <p:spPr>
          <a:xfrm>
            <a:off x="800100" y="4069080"/>
            <a:ext cx="502920" cy="502920"/>
          </a:xfrm>
          <a:prstGeom prst="ellipse">
            <a:avLst/>
          </a:prstGeom>
          <a:solidFill>
            <a:srgbClr val="E3F4F4"/>
          </a:solidFill>
          <a:ln/>
        </p:spPr>
      </p:sp>
      <p:pic>
        <p:nvPicPr>
          <p:cNvPr id="13" name="Image 1" descr="icons/balance_teal.png">    </p:cNvPr>
          <p:cNvPicPr>
            <a:picLocks noChangeAspect="1"/>
          </p:cNvPicPr>
          <p:nvPr/>
        </p:nvPicPr>
        <p:blipFill>
          <a:blip r:embed="rId2"/>
          <a:stretch>
            <a:fillRect/>
          </a:stretch>
        </p:blipFill>
        <p:spPr>
          <a:xfrm>
            <a:off x="920801" y="4189781"/>
            <a:ext cx="261518" cy="261518"/>
          </a:xfrm>
          <a:prstGeom prst="rect">
            <a:avLst/>
          </a:prstGeom>
        </p:spPr>
      </p:pic>
      <p:sp>
        <p:nvSpPr>
          <p:cNvPr id="14" name="Text 10"/>
          <p:cNvSpPr/>
          <p:nvPr/>
        </p:nvSpPr>
        <p:spPr>
          <a:xfrm>
            <a:off x="1417320" y="3959352"/>
            <a:ext cx="4206240" cy="292608"/>
          </a:xfrm>
          <a:prstGeom prst="rect">
            <a:avLst/>
          </a:prstGeom>
          <a:noFill/>
          <a:ln/>
        </p:spPr>
        <p:txBody>
          <a:bodyPr wrap="square" rtlCol="0" anchor="ctr"/>
          <a:lstStyle/>
          <a:p>
            <a:pPr indent="0" marL="0">
              <a:buNone/>
            </a:pPr>
            <a:r>
              <a:rPr lang="en-US" sz="1250" b="1" dirty="0">
                <a:solidFill>
                  <a:srgbClr val="16283A"/>
                </a:solidFill>
                <a:latin typeface="Calibri" pitchFamily="34" charset="0"/>
                <a:ea typeface="Calibri" pitchFamily="34" charset="-122"/>
                <a:cs typeface="Calibri" pitchFamily="34" charset="-120"/>
              </a:rPr>
              <a:t>Joint Stability</a:t>
            </a:r>
            <a:endParaRPr lang="en-US" sz="1250" dirty="0"/>
          </a:p>
        </p:txBody>
      </p:sp>
      <p:sp>
        <p:nvSpPr>
          <p:cNvPr id="15" name="Text 11"/>
          <p:cNvSpPr/>
          <p:nvPr/>
        </p:nvSpPr>
        <p:spPr>
          <a:xfrm>
            <a:off x="1417320" y="4261104"/>
            <a:ext cx="4206240" cy="45720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Helps maintain consistent femoral-tibial alignment.</a:t>
            </a:r>
            <a:endParaRPr lang="en-US" sz="1050" dirty="0"/>
          </a:p>
        </p:txBody>
      </p:sp>
      <p:sp>
        <p:nvSpPr>
          <p:cNvPr id="16" name="Shape 12"/>
          <p:cNvSpPr/>
          <p:nvPr/>
        </p:nvSpPr>
        <p:spPr>
          <a:xfrm>
            <a:off x="548640" y="4937760"/>
            <a:ext cx="5212080" cy="960120"/>
          </a:xfrm>
          <a:prstGeom prst="roundRect">
            <a:avLst>
              <a:gd name="adj" fmla="val 7619"/>
            </a:avLst>
          </a:prstGeom>
          <a:solidFill>
            <a:srgbClr val="FFFFFF"/>
          </a:solidFill>
          <a:ln w="12700">
            <a:solidFill>
              <a:srgbClr val="DCE6E8"/>
            </a:solidFill>
            <a:prstDash val="solid"/>
          </a:ln>
        </p:spPr>
      </p:sp>
      <p:sp>
        <p:nvSpPr>
          <p:cNvPr id="17" name="Shape 13"/>
          <p:cNvSpPr/>
          <p:nvPr/>
        </p:nvSpPr>
        <p:spPr>
          <a:xfrm>
            <a:off x="800100" y="5166360"/>
            <a:ext cx="502920" cy="502920"/>
          </a:xfrm>
          <a:prstGeom prst="ellipse">
            <a:avLst/>
          </a:prstGeom>
          <a:solidFill>
            <a:srgbClr val="E3F4F4"/>
          </a:solidFill>
          <a:ln/>
        </p:spPr>
      </p:sp>
      <p:pic>
        <p:nvPicPr>
          <p:cNvPr id="18" name="Image 2" descr="icons/check_teal.png">    </p:cNvPr>
          <p:cNvPicPr>
            <a:picLocks noChangeAspect="1"/>
          </p:cNvPicPr>
          <p:nvPr/>
        </p:nvPicPr>
        <p:blipFill>
          <a:blip r:embed="rId3"/>
          <a:stretch>
            <a:fillRect/>
          </a:stretch>
        </p:blipFill>
        <p:spPr>
          <a:xfrm>
            <a:off x="920801" y="5287061"/>
            <a:ext cx="261518" cy="261518"/>
          </a:xfrm>
          <a:prstGeom prst="rect">
            <a:avLst/>
          </a:prstGeom>
        </p:spPr>
      </p:pic>
      <p:sp>
        <p:nvSpPr>
          <p:cNvPr id="19" name="Text 14"/>
          <p:cNvSpPr/>
          <p:nvPr/>
        </p:nvSpPr>
        <p:spPr>
          <a:xfrm>
            <a:off x="1417320" y="5056632"/>
            <a:ext cx="4206240" cy="292608"/>
          </a:xfrm>
          <a:prstGeom prst="rect">
            <a:avLst/>
          </a:prstGeom>
          <a:noFill/>
          <a:ln/>
        </p:spPr>
        <p:txBody>
          <a:bodyPr wrap="square" rtlCol="0" anchor="ctr"/>
          <a:lstStyle/>
          <a:p>
            <a:pPr indent="0" marL="0">
              <a:buNone/>
            </a:pPr>
            <a:r>
              <a:rPr lang="en-US" sz="1250" b="1" dirty="0">
                <a:solidFill>
                  <a:srgbClr val="16283A"/>
                </a:solidFill>
                <a:latin typeface="Calibri" pitchFamily="34" charset="0"/>
                <a:ea typeface="Calibri" pitchFamily="34" charset="-122"/>
                <a:cs typeface="Calibri" pitchFamily="34" charset="-120"/>
              </a:rPr>
              <a:t>Cartilage Protection</a:t>
            </a:r>
            <a:endParaRPr lang="en-US" sz="1250" dirty="0"/>
          </a:p>
        </p:txBody>
      </p:sp>
      <p:sp>
        <p:nvSpPr>
          <p:cNvPr id="20" name="Text 15"/>
          <p:cNvSpPr/>
          <p:nvPr/>
        </p:nvSpPr>
        <p:spPr>
          <a:xfrm>
            <a:off x="1417320" y="5358384"/>
            <a:ext cx="4206240" cy="45720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Reduces direct contact stress on articular cartilage.</a:t>
            </a:r>
            <a:endParaRPr lang="en-US" sz="1050" dirty="0"/>
          </a:p>
        </p:txBody>
      </p:sp>
      <p:sp>
        <p:nvSpPr>
          <p:cNvPr id="21" name="Text 16"/>
          <p:cNvSpPr/>
          <p:nvPr/>
        </p:nvSpPr>
        <p:spPr>
          <a:xfrm>
            <a:off x="6263640" y="2331720"/>
            <a:ext cx="4572000" cy="274320"/>
          </a:xfrm>
          <a:prstGeom prst="rect">
            <a:avLst/>
          </a:prstGeom>
          <a:noFill/>
          <a:ln/>
        </p:spPr>
        <p:txBody>
          <a:bodyPr wrap="square" rtlCol="0" anchor="ctr"/>
          <a:lstStyle/>
          <a:p>
            <a:pPr indent="0" marL="0">
              <a:buNone/>
            </a:pPr>
            <a:r>
              <a:rPr lang="en-US" sz="1200" b="1" spc="150" kern="0" dirty="0">
                <a:solidFill>
                  <a:srgbClr val="FF6F59"/>
                </a:solidFill>
                <a:latin typeface="Calibri" pitchFamily="34" charset="0"/>
                <a:ea typeface="Calibri" pitchFamily="34" charset="-122"/>
                <a:cs typeface="Calibri" pitchFamily="34" charset="-120"/>
              </a:rPr>
              <a:t>MEASUREMENT CHALLENGES</a:t>
            </a:r>
            <a:endParaRPr lang="en-US" sz="1200" dirty="0"/>
          </a:p>
        </p:txBody>
      </p:sp>
      <p:sp>
        <p:nvSpPr>
          <p:cNvPr id="22" name="Shape 17"/>
          <p:cNvSpPr/>
          <p:nvPr/>
        </p:nvSpPr>
        <p:spPr>
          <a:xfrm>
            <a:off x="6537960" y="2807208"/>
            <a:ext cx="457200" cy="457200"/>
          </a:xfrm>
          <a:prstGeom prst="ellipse">
            <a:avLst/>
          </a:prstGeom>
          <a:solidFill>
            <a:srgbClr val="FFE8E3"/>
          </a:solidFill>
          <a:ln/>
        </p:spPr>
      </p:sp>
      <p:pic>
        <p:nvPicPr>
          <p:cNvPr id="23" name="Image 3" descr="icons/users_coral.png">    </p:cNvPr>
          <p:cNvPicPr>
            <a:picLocks noChangeAspect="1"/>
          </p:cNvPicPr>
          <p:nvPr/>
        </p:nvPicPr>
        <p:blipFill>
          <a:blip r:embed="rId4"/>
          <a:stretch>
            <a:fillRect/>
          </a:stretch>
        </p:blipFill>
        <p:spPr>
          <a:xfrm>
            <a:off x="6647688" y="2916936"/>
            <a:ext cx="237744" cy="237744"/>
          </a:xfrm>
          <a:prstGeom prst="rect">
            <a:avLst/>
          </a:prstGeom>
        </p:spPr>
      </p:pic>
      <p:sp>
        <p:nvSpPr>
          <p:cNvPr id="24" name="Text 18"/>
          <p:cNvSpPr/>
          <p:nvPr/>
        </p:nvSpPr>
        <p:spPr>
          <a:xfrm>
            <a:off x="7178040" y="2743200"/>
            <a:ext cx="4297680" cy="585216"/>
          </a:xfrm>
          <a:prstGeom prst="rect">
            <a:avLst/>
          </a:prstGeom>
          <a:noFill/>
          <a:ln/>
        </p:spPr>
        <p:txBody>
          <a:bodyPr wrap="square" rtlCol="0" anchor="ctr"/>
          <a:lstStyle/>
          <a:p>
            <a:pPr indent="0" marL="0">
              <a:buNone/>
            </a:pPr>
            <a:r>
              <a:rPr lang="en-US" sz="1250" b="1" dirty="0">
                <a:solidFill>
                  <a:srgbClr val="16283A"/>
                </a:solidFill>
                <a:latin typeface="Calibri" pitchFamily="34" charset="0"/>
                <a:ea typeface="Calibri" pitchFamily="34" charset="-122"/>
                <a:cs typeface="Calibri" pitchFamily="34" charset="-120"/>
              </a:rPr>
              <a:t>Anatomical variation across patients</a:t>
            </a:r>
            <a:endParaRPr lang="en-US" sz="1250" dirty="0"/>
          </a:p>
        </p:txBody>
      </p:sp>
      <p:sp>
        <p:nvSpPr>
          <p:cNvPr id="25" name="Shape 19"/>
          <p:cNvSpPr/>
          <p:nvPr/>
        </p:nvSpPr>
        <p:spPr>
          <a:xfrm>
            <a:off x="6537960" y="3520440"/>
            <a:ext cx="457200" cy="457200"/>
          </a:xfrm>
          <a:prstGeom prst="ellipse">
            <a:avLst/>
          </a:prstGeom>
          <a:solidFill>
            <a:srgbClr val="FFE8E3"/>
          </a:solidFill>
          <a:ln/>
        </p:spPr>
      </p:sp>
      <p:pic>
        <p:nvPicPr>
          <p:cNvPr id="26" name="Image 4" descr="icons/scan_coral.png">    </p:cNvPr>
          <p:cNvPicPr>
            <a:picLocks noChangeAspect="1"/>
          </p:cNvPicPr>
          <p:nvPr/>
        </p:nvPicPr>
        <p:blipFill>
          <a:blip r:embed="rId5"/>
          <a:stretch>
            <a:fillRect/>
          </a:stretch>
        </p:blipFill>
        <p:spPr>
          <a:xfrm>
            <a:off x="6647688" y="3630168"/>
            <a:ext cx="237744" cy="237744"/>
          </a:xfrm>
          <a:prstGeom prst="rect">
            <a:avLst/>
          </a:prstGeom>
        </p:spPr>
      </p:pic>
      <p:sp>
        <p:nvSpPr>
          <p:cNvPr id="27" name="Text 20"/>
          <p:cNvSpPr/>
          <p:nvPr/>
        </p:nvSpPr>
        <p:spPr>
          <a:xfrm>
            <a:off x="7178040" y="3456432"/>
            <a:ext cx="4297680" cy="585216"/>
          </a:xfrm>
          <a:prstGeom prst="rect">
            <a:avLst/>
          </a:prstGeom>
          <a:noFill/>
          <a:ln/>
        </p:spPr>
        <p:txBody>
          <a:bodyPr wrap="square" rtlCol="0" anchor="ctr"/>
          <a:lstStyle/>
          <a:p>
            <a:pPr indent="0" marL="0">
              <a:buNone/>
            </a:pPr>
            <a:r>
              <a:rPr lang="en-US" sz="1250" b="1" dirty="0">
                <a:solidFill>
                  <a:srgbClr val="16283A"/>
                </a:solidFill>
                <a:latin typeface="Calibri" pitchFamily="34" charset="0"/>
                <a:ea typeface="Calibri" pitchFamily="34" charset="-122"/>
                <a:cs typeface="Calibri" pitchFamily="34" charset="-120"/>
              </a:rPr>
              <a:t>Differences in image quality &amp; orientation</a:t>
            </a:r>
            <a:endParaRPr lang="en-US" sz="1250" dirty="0"/>
          </a:p>
        </p:txBody>
      </p:sp>
      <p:sp>
        <p:nvSpPr>
          <p:cNvPr id="28" name="Shape 21"/>
          <p:cNvSpPr/>
          <p:nvPr/>
        </p:nvSpPr>
        <p:spPr>
          <a:xfrm>
            <a:off x="6537960" y="4233672"/>
            <a:ext cx="457200" cy="457200"/>
          </a:xfrm>
          <a:prstGeom prst="ellipse">
            <a:avLst/>
          </a:prstGeom>
          <a:solidFill>
            <a:srgbClr val="FFE8E3"/>
          </a:solidFill>
          <a:ln/>
        </p:spPr>
      </p:sp>
      <p:pic>
        <p:nvPicPr>
          <p:cNvPr id="29" name="Image 5" descr="icons/warning_coral.png">    </p:cNvPr>
          <p:cNvPicPr>
            <a:picLocks noChangeAspect="1"/>
          </p:cNvPicPr>
          <p:nvPr/>
        </p:nvPicPr>
        <p:blipFill>
          <a:blip r:embed="rId6"/>
          <a:stretch>
            <a:fillRect/>
          </a:stretch>
        </p:blipFill>
        <p:spPr>
          <a:xfrm>
            <a:off x="6647688" y="4343400"/>
            <a:ext cx="237744" cy="237744"/>
          </a:xfrm>
          <a:prstGeom prst="rect">
            <a:avLst/>
          </a:prstGeom>
        </p:spPr>
      </p:pic>
      <p:sp>
        <p:nvSpPr>
          <p:cNvPr id="30" name="Text 22"/>
          <p:cNvSpPr/>
          <p:nvPr/>
        </p:nvSpPr>
        <p:spPr>
          <a:xfrm>
            <a:off x="7178040" y="4169664"/>
            <a:ext cx="4297680" cy="585216"/>
          </a:xfrm>
          <a:prstGeom prst="rect">
            <a:avLst/>
          </a:prstGeom>
          <a:noFill/>
          <a:ln/>
        </p:spPr>
        <p:txBody>
          <a:bodyPr wrap="square" rtlCol="0" anchor="ctr"/>
          <a:lstStyle/>
          <a:p>
            <a:pPr indent="0" marL="0">
              <a:buNone/>
            </a:pPr>
            <a:r>
              <a:rPr lang="en-US" sz="1250" b="1" dirty="0">
                <a:solidFill>
                  <a:srgbClr val="16283A"/>
                </a:solidFill>
                <a:latin typeface="Calibri" pitchFamily="34" charset="0"/>
                <a:ea typeface="Calibri" pitchFamily="34" charset="-122"/>
                <a:cs typeface="Calibri" pitchFamily="34" charset="-120"/>
              </a:rPr>
              <a:t>Disease-related structural change</a:t>
            </a:r>
            <a:endParaRPr lang="en-US" sz="1250" dirty="0"/>
          </a:p>
        </p:txBody>
      </p:sp>
      <p:sp>
        <p:nvSpPr>
          <p:cNvPr id="31" name="Shape 23"/>
          <p:cNvSpPr/>
          <p:nvPr/>
        </p:nvSpPr>
        <p:spPr>
          <a:xfrm>
            <a:off x="6263640" y="4937760"/>
            <a:ext cx="5349240" cy="1417320"/>
          </a:xfrm>
          <a:prstGeom prst="roundRect">
            <a:avLst>
              <a:gd name="adj" fmla="val 6452"/>
            </a:avLst>
          </a:prstGeom>
          <a:solidFill>
            <a:srgbClr val="0B2E4F"/>
          </a:solidFill>
          <a:ln/>
        </p:spPr>
      </p:sp>
      <p:pic>
        <p:nvPicPr>
          <p:cNvPr id="32" name="Image 6" descr="icons/male_white.png">    </p:cNvPr>
          <p:cNvPicPr>
            <a:picLocks noChangeAspect="1"/>
          </p:cNvPicPr>
          <p:nvPr/>
        </p:nvPicPr>
        <p:blipFill>
          <a:blip r:embed="rId7"/>
          <a:stretch>
            <a:fillRect/>
          </a:stretch>
        </p:blipFill>
        <p:spPr>
          <a:xfrm>
            <a:off x="6583680" y="5285232"/>
            <a:ext cx="566928" cy="566928"/>
          </a:xfrm>
          <a:prstGeom prst="rect">
            <a:avLst/>
          </a:prstGeom>
        </p:spPr>
      </p:pic>
      <p:pic>
        <p:nvPicPr>
          <p:cNvPr id="33" name="Image 7" descr="icons/female_white.png">    </p:cNvPr>
          <p:cNvPicPr>
            <a:picLocks noChangeAspect="1"/>
          </p:cNvPicPr>
          <p:nvPr/>
        </p:nvPicPr>
        <p:blipFill>
          <a:blip r:embed="rId8"/>
          <a:stretch>
            <a:fillRect/>
          </a:stretch>
        </p:blipFill>
        <p:spPr>
          <a:xfrm>
            <a:off x="7178040" y="5285232"/>
            <a:ext cx="502920" cy="566928"/>
          </a:xfrm>
          <a:prstGeom prst="rect">
            <a:avLst/>
          </a:prstGeom>
        </p:spPr>
      </p:pic>
      <p:sp>
        <p:nvSpPr>
          <p:cNvPr id="34" name="Text 24"/>
          <p:cNvSpPr/>
          <p:nvPr/>
        </p:nvSpPr>
        <p:spPr>
          <a:xfrm>
            <a:off x="7818120" y="5138928"/>
            <a:ext cx="3611880" cy="502920"/>
          </a:xfrm>
          <a:prstGeom prst="rect">
            <a:avLst/>
          </a:prstGeom>
          <a:noFill/>
          <a:ln/>
        </p:spPr>
        <p:txBody>
          <a:bodyPr wrap="square" rtlCol="0" anchor="ctr"/>
          <a:lstStyle/>
          <a:p>
            <a:pPr indent="0" marL="0">
              <a:lnSpc>
                <a:spcPts val="1500"/>
              </a:lnSpc>
              <a:buNone/>
            </a:pPr>
            <a:r>
              <a:rPr lang="en-US" sz="1250" b="1" dirty="0">
                <a:solidFill>
                  <a:srgbClr val="FFFFFF"/>
                </a:solidFill>
                <a:latin typeface="Calibri" pitchFamily="34" charset="0"/>
                <a:ea typeface="Calibri" pitchFamily="34" charset="-122"/>
                <a:cs typeface="Calibri" pitchFamily="34" charset="-120"/>
              </a:rPr>
              <a:t>Thickness norms differ by sex and age group</a:t>
            </a:r>
            <a:endParaRPr lang="en-US" sz="1250" dirty="0"/>
          </a:p>
        </p:txBody>
      </p:sp>
      <p:sp>
        <p:nvSpPr>
          <p:cNvPr id="35" name="Text 25"/>
          <p:cNvSpPr/>
          <p:nvPr/>
        </p:nvSpPr>
        <p:spPr>
          <a:xfrm>
            <a:off x="7818120" y="5623560"/>
            <a:ext cx="3611880" cy="594360"/>
          </a:xfrm>
          <a:prstGeom prst="rect">
            <a:avLst/>
          </a:prstGeom>
          <a:noFill/>
          <a:ln/>
        </p:spPr>
        <p:txBody>
          <a:bodyPr wrap="square" rtlCol="0" anchor="ctr"/>
          <a:lstStyle/>
          <a:p>
            <a:pPr indent="0" marL="0">
              <a:lnSpc>
                <a:spcPts val="1300"/>
              </a:lnSpc>
              <a:buNone/>
            </a:pPr>
            <a:r>
              <a:rPr lang="en-US" sz="1050" dirty="0">
                <a:solidFill>
                  <a:srgbClr val="AFC6D6"/>
                </a:solidFill>
                <a:latin typeface="Calibri" pitchFamily="34" charset="0"/>
                <a:ea typeface="Calibri" pitchFamily="34" charset="-122"/>
                <a:cs typeface="Calibri" pitchFamily="34" charset="-120"/>
              </a:rPr>
              <a:t>→ population-specific baselines are needed for reliable OA comparison.</a:t>
            </a:r>
            <a:endParaRPr lang="en-US" sz="1050" dirty="0"/>
          </a:p>
        </p:txBody>
      </p:sp>
      <p:sp>
        <p:nvSpPr>
          <p:cNvPr id="36" name="Text 26"/>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AA7B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3707A"/>
                </a:solidFill>
                <a:latin typeface="Calibri" pitchFamily="34" charset="0"/>
                <a:ea typeface="Calibri" pitchFamily="34" charset="-122"/>
                <a:cs typeface="Calibri" pitchFamily="34" charset="-120"/>
              </a:rPr>
              <a:t>THE PROPOSED SOLUTION</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0B2E4F"/>
                </a:solidFill>
                <a:latin typeface="Cambria" pitchFamily="34" charset="0"/>
                <a:ea typeface="Cambria" pitchFamily="34" charset="-122"/>
                <a:cs typeface="Cambria" pitchFamily="34" charset="-120"/>
              </a:rPr>
              <a:t>One Unified AI Platform, Two Clinical Modules</a:t>
            </a:r>
            <a:endParaRPr lang="en-US" sz="2700" dirty="0"/>
          </a:p>
        </p:txBody>
      </p:sp>
      <p:sp>
        <p:nvSpPr>
          <p:cNvPr id="4" name="Text 2"/>
          <p:cNvSpPr/>
          <p:nvPr/>
        </p:nvSpPr>
        <p:spPr>
          <a:xfrm>
            <a:off x="548640" y="1508760"/>
            <a:ext cx="10789920" cy="594360"/>
          </a:xfrm>
          <a:prstGeom prst="rect">
            <a:avLst/>
          </a:prstGeom>
          <a:noFill/>
          <a:ln/>
        </p:spPr>
        <p:txBody>
          <a:bodyPr wrap="square" rtlCol="0" anchor="ctr"/>
          <a:lstStyle/>
          <a:p>
            <a:pPr indent="0" marL="0">
              <a:lnSpc>
                <a:spcPts val="1900"/>
              </a:lnSpc>
              <a:buNone/>
            </a:pPr>
            <a:r>
              <a:rPr lang="en-US" sz="1350" dirty="0">
                <a:solidFill>
                  <a:srgbClr val="5B6B7A"/>
                </a:solidFill>
                <a:latin typeface="Calibri" pitchFamily="34" charset="0"/>
                <a:ea typeface="Calibri" pitchFamily="34" charset="-122"/>
                <a:cs typeface="Calibri" pitchFamily="34" charset="-120"/>
              </a:rPr>
              <a:t>An AI-assisted imaging platform automatically identifies the femur, tibia, and medial meniscus, then turns pixels into patient-specific, reproducible measurements for two connected clinical use cases.</a:t>
            </a:r>
            <a:endParaRPr lang="en-US" sz="1350" dirty="0"/>
          </a:p>
        </p:txBody>
      </p:sp>
      <p:sp>
        <p:nvSpPr>
          <p:cNvPr id="5" name="Shape 3"/>
          <p:cNvSpPr/>
          <p:nvPr/>
        </p:nvSpPr>
        <p:spPr>
          <a:xfrm>
            <a:off x="548640" y="2286000"/>
            <a:ext cx="5394960" cy="3977640"/>
          </a:xfrm>
          <a:prstGeom prst="roundRect">
            <a:avLst>
              <a:gd name="adj" fmla="val 2759"/>
            </a:avLst>
          </a:prstGeom>
          <a:solidFill>
            <a:srgbClr val="13707A"/>
          </a:solidFill>
          <a:ln/>
        </p:spPr>
      </p:sp>
      <p:sp>
        <p:nvSpPr>
          <p:cNvPr id="6" name="Shape 4"/>
          <p:cNvSpPr/>
          <p:nvPr/>
        </p:nvSpPr>
        <p:spPr>
          <a:xfrm>
            <a:off x="877824" y="2551176"/>
            <a:ext cx="658368" cy="658368"/>
          </a:xfrm>
          <a:prstGeom prst="ellipse">
            <a:avLst/>
          </a:prstGeom>
          <a:solidFill>
            <a:srgbClr val="FFFFFF"/>
          </a:solidFill>
          <a:ln/>
        </p:spPr>
      </p:sp>
      <p:pic>
        <p:nvPicPr>
          <p:cNvPr id="7" name="Image 0" descr="icons/chart_navy.png">    </p:cNvPr>
          <p:cNvPicPr>
            <a:picLocks noChangeAspect="1"/>
          </p:cNvPicPr>
          <p:nvPr/>
        </p:nvPicPr>
        <p:blipFill>
          <a:blip r:embed="rId1"/>
          <a:stretch>
            <a:fillRect/>
          </a:stretch>
        </p:blipFill>
        <p:spPr>
          <a:xfrm>
            <a:off x="1035832" y="2709184"/>
            <a:ext cx="342351" cy="342351"/>
          </a:xfrm>
          <a:prstGeom prst="rect">
            <a:avLst/>
          </a:prstGeom>
        </p:spPr>
      </p:pic>
      <p:sp>
        <p:nvSpPr>
          <p:cNvPr id="8" name="Text 5"/>
          <p:cNvSpPr/>
          <p:nvPr/>
        </p:nvSpPr>
        <p:spPr>
          <a:xfrm>
            <a:off x="1645920" y="2542032"/>
            <a:ext cx="2743200" cy="274320"/>
          </a:xfrm>
          <a:prstGeom prst="rect">
            <a:avLst/>
          </a:prstGeom>
          <a:noFill/>
          <a:ln/>
        </p:spPr>
        <p:txBody>
          <a:bodyPr wrap="square" rtlCol="0" anchor="ctr"/>
          <a:lstStyle/>
          <a:p>
            <a:pPr indent="0" marL="0">
              <a:buNone/>
            </a:pPr>
            <a:r>
              <a:rPr lang="en-US" sz="1100" b="1" spc="200" kern="0" dirty="0">
                <a:solidFill>
                  <a:srgbClr val="9FE3E6"/>
                </a:solidFill>
                <a:latin typeface="Calibri" pitchFamily="34" charset="0"/>
                <a:ea typeface="Calibri" pitchFamily="34" charset="-122"/>
                <a:cs typeface="Calibri" pitchFamily="34" charset="-120"/>
              </a:rPr>
              <a:t>MODULE 1</a:t>
            </a:r>
            <a:endParaRPr lang="en-US" sz="1100" dirty="0"/>
          </a:p>
        </p:txBody>
      </p:sp>
      <p:sp>
        <p:nvSpPr>
          <p:cNvPr id="9" name="Text 6"/>
          <p:cNvSpPr/>
          <p:nvPr/>
        </p:nvSpPr>
        <p:spPr>
          <a:xfrm>
            <a:off x="1645920" y="2761488"/>
            <a:ext cx="4023360" cy="777240"/>
          </a:xfrm>
          <a:prstGeom prst="rect">
            <a:avLst/>
          </a:prstGeom>
          <a:noFill/>
          <a:ln/>
        </p:spPr>
        <p:txBody>
          <a:bodyPr wrap="square" rtlCol="0" anchor="ctr"/>
          <a:lstStyle/>
          <a:p>
            <a:pPr indent="0" marL="0">
              <a:lnSpc>
                <a:spcPts val="2000"/>
              </a:lnSpc>
              <a:buNone/>
            </a:pPr>
            <a:r>
              <a:rPr lang="en-US" sz="1700" b="1" dirty="0">
                <a:solidFill>
                  <a:srgbClr val="FFFFFF"/>
                </a:solidFill>
                <a:latin typeface="Cambria" pitchFamily="34" charset="0"/>
                <a:ea typeface="Cambria" pitchFamily="34" charset="-122"/>
                <a:cs typeface="Cambria" pitchFamily="34" charset="-120"/>
              </a:rPr>
              <a:t>Meniscus Analysis &amp;</a:t>
            </a:r>
            <a:endParaRPr lang="en-US" sz="1700" dirty="0"/>
          </a:p>
          <a:p>
            <a:pPr indent="0" marL="0">
              <a:lnSpc>
                <a:spcPts val="2000"/>
              </a:lnSpc>
              <a:buNone/>
            </a:pPr>
            <a:r>
              <a:rPr lang="en-US" sz="1700" b="1" dirty="0">
                <a:solidFill>
                  <a:srgbClr val="FFFFFF"/>
                </a:solidFill>
                <a:latin typeface="Cambria" pitchFamily="34" charset="0"/>
                <a:ea typeface="Cambria" pitchFamily="34" charset="-122"/>
                <a:cs typeface="Cambria" pitchFamily="34" charset="-120"/>
              </a:rPr>
              <a:t>Osteoarthritis Assessment</a:t>
            </a:r>
            <a:endParaRPr lang="en-US" sz="1700" dirty="0"/>
          </a:p>
        </p:txBody>
      </p:sp>
      <p:sp>
        <p:nvSpPr>
          <p:cNvPr id="10" name="Shape 7"/>
          <p:cNvSpPr/>
          <p:nvPr/>
        </p:nvSpPr>
        <p:spPr>
          <a:xfrm>
            <a:off x="914400" y="3703320"/>
            <a:ext cx="4663440" cy="0"/>
          </a:xfrm>
          <a:prstGeom prst="line">
            <a:avLst/>
          </a:prstGeom>
          <a:noFill/>
          <a:ln w="9525">
            <a:solidFill>
              <a:srgbClr val="FFFFFF">
                <a:alpha val="25000"/>
              </a:srgbClr>
            </a:solidFill>
            <a:prstDash val="solid"/>
          </a:ln>
        </p:spPr>
      </p:sp>
      <p:sp>
        <p:nvSpPr>
          <p:cNvPr id="11" name="Shape 8"/>
          <p:cNvSpPr/>
          <p:nvPr/>
        </p:nvSpPr>
        <p:spPr>
          <a:xfrm>
            <a:off x="914400" y="3995928"/>
            <a:ext cx="82296" cy="82296"/>
          </a:xfrm>
          <a:prstGeom prst="ellipse">
            <a:avLst/>
          </a:prstGeom>
          <a:solidFill>
            <a:srgbClr val="FF6F59"/>
          </a:solidFill>
          <a:ln/>
        </p:spPr>
      </p:sp>
      <p:sp>
        <p:nvSpPr>
          <p:cNvPr id="12" name="Text 9"/>
          <p:cNvSpPr/>
          <p:nvPr/>
        </p:nvSpPr>
        <p:spPr>
          <a:xfrm>
            <a:off x="1143000" y="38862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Detect femur, tibia &amp; medial meniscus</a:t>
            </a:r>
            <a:endParaRPr lang="en-US" sz="1250" dirty="0"/>
          </a:p>
        </p:txBody>
      </p:sp>
      <p:sp>
        <p:nvSpPr>
          <p:cNvPr id="13" name="Shape 10"/>
          <p:cNvSpPr/>
          <p:nvPr/>
        </p:nvSpPr>
        <p:spPr>
          <a:xfrm>
            <a:off x="914400" y="4453128"/>
            <a:ext cx="82296" cy="82296"/>
          </a:xfrm>
          <a:prstGeom prst="ellipse">
            <a:avLst/>
          </a:prstGeom>
          <a:solidFill>
            <a:srgbClr val="FF6F59"/>
          </a:solidFill>
          <a:ln/>
        </p:spPr>
      </p:sp>
      <p:sp>
        <p:nvSpPr>
          <p:cNvPr id="14" name="Text 11"/>
          <p:cNvSpPr/>
          <p:nvPr/>
        </p:nvSpPr>
        <p:spPr>
          <a:xfrm>
            <a:off x="1143000" y="43434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Measure thickness at defined locations</a:t>
            </a:r>
            <a:endParaRPr lang="en-US" sz="1250" dirty="0"/>
          </a:p>
        </p:txBody>
      </p:sp>
      <p:sp>
        <p:nvSpPr>
          <p:cNvPr id="15" name="Shape 12"/>
          <p:cNvSpPr/>
          <p:nvPr/>
        </p:nvSpPr>
        <p:spPr>
          <a:xfrm>
            <a:off x="914400" y="4910328"/>
            <a:ext cx="82296" cy="82296"/>
          </a:xfrm>
          <a:prstGeom prst="ellipse">
            <a:avLst/>
          </a:prstGeom>
          <a:solidFill>
            <a:srgbClr val="FF6F59"/>
          </a:solidFill>
          <a:ln/>
        </p:spPr>
      </p:sp>
      <p:sp>
        <p:nvSpPr>
          <p:cNvPr id="16" name="Text 13"/>
          <p:cNvSpPr/>
          <p:nvPr/>
        </p:nvSpPr>
        <p:spPr>
          <a:xfrm>
            <a:off x="1143000" y="48006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Compare against labelled OA / non-OA cases</a:t>
            </a:r>
            <a:endParaRPr lang="en-US" sz="1250" dirty="0"/>
          </a:p>
        </p:txBody>
      </p:sp>
      <p:sp>
        <p:nvSpPr>
          <p:cNvPr id="17" name="Shape 14"/>
          <p:cNvSpPr/>
          <p:nvPr/>
        </p:nvSpPr>
        <p:spPr>
          <a:xfrm>
            <a:off x="914400" y="5367528"/>
            <a:ext cx="82296" cy="82296"/>
          </a:xfrm>
          <a:prstGeom prst="ellipse">
            <a:avLst/>
          </a:prstGeom>
          <a:solidFill>
            <a:srgbClr val="FF6F59"/>
          </a:solidFill>
          <a:ln/>
        </p:spPr>
      </p:sp>
      <p:sp>
        <p:nvSpPr>
          <p:cNvPr id="18" name="Text 15"/>
          <p:cNvSpPr/>
          <p:nvPr/>
        </p:nvSpPr>
        <p:spPr>
          <a:xfrm>
            <a:off x="1143000" y="52578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Analyze by age &amp; sex</a:t>
            </a:r>
            <a:endParaRPr lang="en-US" sz="1250" dirty="0"/>
          </a:p>
        </p:txBody>
      </p:sp>
      <p:sp>
        <p:nvSpPr>
          <p:cNvPr id="19" name="Shape 16"/>
          <p:cNvSpPr/>
          <p:nvPr/>
        </p:nvSpPr>
        <p:spPr>
          <a:xfrm>
            <a:off x="6263640" y="2286000"/>
            <a:ext cx="5394960" cy="3977640"/>
          </a:xfrm>
          <a:prstGeom prst="roundRect">
            <a:avLst>
              <a:gd name="adj" fmla="val 2759"/>
            </a:avLst>
          </a:prstGeom>
          <a:solidFill>
            <a:srgbClr val="0B2E4F"/>
          </a:solidFill>
          <a:ln/>
        </p:spPr>
      </p:sp>
      <p:sp>
        <p:nvSpPr>
          <p:cNvPr id="20" name="Shape 17"/>
          <p:cNvSpPr/>
          <p:nvPr/>
        </p:nvSpPr>
        <p:spPr>
          <a:xfrm>
            <a:off x="6592824" y="2551176"/>
            <a:ext cx="658368" cy="658368"/>
          </a:xfrm>
          <a:prstGeom prst="ellipse">
            <a:avLst/>
          </a:prstGeom>
          <a:solidFill>
            <a:srgbClr val="FFFFFF"/>
          </a:solidFill>
          <a:ln/>
        </p:spPr>
      </p:sp>
      <p:pic>
        <p:nvPicPr>
          <p:cNvPr id="21" name="Image 1" descr="icons/puzzle_navy.png">    </p:cNvPr>
          <p:cNvPicPr>
            <a:picLocks noChangeAspect="1"/>
          </p:cNvPicPr>
          <p:nvPr/>
        </p:nvPicPr>
        <p:blipFill>
          <a:blip r:embed="rId2"/>
          <a:stretch>
            <a:fillRect/>
          </a:stretch>
        </p:blipFill>
        <p:spPr>
          <a:xfrm>
            <a:off x="6750832" y="2709184"/>
            <a:ext cx="342351" cy="342351"/>
          </a:xfrm>
          <a:prstGeom prst="rect">
            <a:avLst/>
          </a:prstGeom>
        </p:spPr>
      </p:pic>
      <p:sp>
        <p:nvSpPr>
          <p:cNvPr id="22" name="Text 18"/>
          <p:cNvSpPr/>
          <p:nvPr/>
        </p:nvSpPr>
        <p:spPr>
          <a:xfrm>
            <a:off x="7360920" y="2542032"/>
            <a:ext cx="2743200" cy="274320"/>
          </a:xfrm>
          <a:prstGeom prst="rect">
            <a:avLst/>
          </a:prstGeom>
          <a:noFill/>
          <a:ln/>
        </p:spPr>
        <p:txBody>
          <a:bodyPr wrap="square" rtlCol="0" anchor="ctr"/>
          <a:lstStyle/>
          <a:p>
            <a:pPr indent="0" marL="0">
              <a:buNone/>
            </a:pPr>
            <a:r>
              <a:rPr lang="en-US" sz="1100" b="1" spc="200" kern="0" dirty="0">
                <a:solidFill>
                  <a:srgbClr val="9FE3E6"/>
                </a:solidFill>
                <a:latin typeface="Calibri" pitchFamily="34" charset="0"/>
                <a:ea typeface="Calibri" pitchFamily="34" charset="-122"/>
                <a:cs typeface="Calibri" pitchFamily="34" charset="-120"/>
              </a:rPr>
              <a:t>MODULE 2</a:t>
            </a:r>
            <a:endParaRPr lang="en-US" sz="1100" dirty="0"/>
          </a:p>
        </p:txBody>
      </p:sp>
      <p:sp>
        <p:nvSpPr>
          <p:cNvPr id="23" name="Text 19"/>
          <p:cNvSpPr/>
          <p:nvPr/>
        </p:nvSpPr>
        <p:spPr>
          <a:xfrm>
            <a:off x="7360920" y="2761488"/>
            <a:ext cx="4023360" cy="777240"/>
          </a:xfrm>
          <a:prstGeom prst="rect">
            <a:avLst/>
          </a:prstGeom>
          <a:noFill/>
          <a:ln/>
        </p:spPr>
        <p:txBody>
          <a:bodyPr wrap="square" rtlCol="0" anchor="ctr"/>
          <a:lstStyle/>
          <a:p>
            <a:pPr indent="0" marL="0">
              <a:lnSpc>
                <a:spcPts val="2000"/>
              </a:lnSpc>
              <a:buNone/>
            </a:pPr>
            <a:r>
              <a:rPr lang="en-US" sz="1700" b="1" dirty="0">
                <a:solidFill>
                  <a:srgbClr val="FFFFFF"/>
                </a:solidFill>
                <a:latin typeface="Cambria" pitchFamily="34" charset="0"/>
                <a:ea typeface="Cambria" pitchFamily="34" charset="-122"/>
                <a:cs typeface="Cambria" pitchFamily="34" charset="-120"/>
              </a:rPr>
              <a:t>Femoral &amp; Tibial Measurement</a:t>
            </a:r>
            <a:endParaRPr lang="en-US" sz="1700" dirty="0"/>
          </a:p>
          <a:p>
            <a:pPr indent="0" marL="0">
              <a:lnSpc>
                <a:spcPts val="2000"/>
              </a:lnSpc>
              <a:buNone/>
            </a:pPr>
            <a:r>
              <a:rPr lang="en-US" sz="1700" b="1" dirty="0">
                <a:solidFill>
                  <a:srgbClr val="FFFFFF"/>
                </a:solidFill>
                <a:latin typeface="Cambria" pitchFamily="34" charset="0"/>
                <a:ea typeface="Cambria" pitchFamily="34" charset="-122"/>
                <a:cs typeface="Cambria" pitchFamily="34" charset="-120"/>
              </a:rPr>
              <a:t>for Implant Sizing</a:t>
            </a:r>
            <a:endParaRPr lang="en-US" sz="1700" dirty="0"/>
          </a:p>
        </p:txBody>
      </p:sp>
      <p:sp>
        <p:nvSpPr>
          <p:cNvPr id="24" name="Shape 20"/>
          <p:cNvSpPr/>
          <p:nvPr/>
        </p:nvSpPr>
        <p:spPr>
          <a:xfrm>
            <a:off x="6629400" y="3703320"/>
            <a:ext cx="4663440" cy="0"/>
          </a:xfrm>
          <a:prstGeom prst="line">
            <a:avLst/>
          </a:prstGeom>
          <a:noFill/>
          <a:ln w="9525">
            <a:solidFill>
              <a:srgbClr val="FFFFFF">
                <a:alpha val="25000"/>
              </a:srgbClr>
            </a:solidFill>
            <a:prstDash val="solid"/>
          </a:ln>
        </p:spPr>
      </p:sp>
      <p:sp>
        <p:nvSpPr>
          <p:cNvPr id="25" name="Shape 21"/>
          <p:cNvSpPr/>
          <p:nvPr/>
        </p:nvSpPr>
        <p:spPr>
          <a:xfrm>
            <a:off x="6629400" y="3995928"/>
            <a:ext cx="82296" cy="82296"/>
          </a:xfrm>
          <a:prstGeom prst="ellipse">
            <a:avLst/>
          </a:prstGeom>
          <a:solidFill>
            <a:srgbClr val="FF6F59"/>
          </a:solidFill>
          <a:ln/>
        </p:spPr>
      </p:sp>
      <p:sp>
        <p:nvSpPr>
          <p:cNvPr id="26" name="Text 22"/>
          <p:cNvSpPr/>
          <p:nvPr/>
        </p:nvSpPr>
        <p:spPr>
          <a:xfrm>
            <a:off x="6858000" y="38862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Segment femur &amp; tibia geometry</a:t>
            </a:r>
            <a:endParaRPr lang="en-US" sz="1250" dirty="0"/>
          </a:p>
        </p:txBody>
      </p:sp>
      <p:sp>
        <p:nvSpPr>
          <p:cNvPr id="27" name="Shape 23"/>
          <p:cNvSpPr/>
          <p:nvPr/>
        </p:nvSpPr>
        <p:spPr>
          <a:xfrm>
            <a:off x="6629400" y="4453128"/>
            <a:ext cx="82296" cy="82296"/>
          </a:xfrm>
          <a:prstGeom prst="ellipse">
            <a:avLst/>
          </a:prstGeom>
          <a:solidFill>
            <a:srgbClr val="FF6F59"/>
          </a:solidFill>
          <a:ln/>
        </p:spPr>
      </p:sp>
      <p:sp>
        <p:nvSpPr>
          <p:cNvPr id="28" name="Text 24"/>
          <p:cNvSpPr/>
          <p:nvPr/>
        </p:nvSpPr>
        <p:spPr>
          <a:xfrm>
            <a:off x="6858000" y="43434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Extract AP / ML clinical dimensions</a:t>
            </a:r>
            <a:endParaRPr lang="en-US" sz="1250" dirty="0"/>
          </a:p>
        </p:txBody>
      </p:sp>
      <p:sp>
        <p:nvSpPr>
          <p:cNvPr id="29" name="Shape 25"/>
          <p:cNvSpPr/>
          <p:nvPr/>
        </p:nvSpPr>
        <p:spPr>
          <a:xfrm>
            <a:off x="6629400" y="4910328"/>
            <a:ext cx="82296" cy="82296"/>
          </a:xfrm>
          <a:prstGeom prst="ellipse">
            <a:avLst/>
          </a:prstGeom>
          <a:solidFill>
            <a:srgbClr val="FF6F59"/>
          </a:solidFill>
          <a:ln/>
        </p:spPr>
      </p:sp>
      <p:sp>
        <p:nvSpPr>
          <p:cNvPr id="30" name="Text 26"/>
          <p:cNvSpPr/>
          <p:nvPr/>
        </p:nvSpPr>
        <p:spPr>
          <a:xfrm>
            <a:off x="6858000" y="48006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Match against implant size database</a:t>
            </a:r>
            <a:endParaRPr lang="en-US" sz="1250" dirty="0"/>
          </a:p>
        </p:txBody>
      </p:sp>
      <p:sp>
        <p:nvSpPr>
          <p:cNvPr id="31" name="Shape 27"/>
          <p:cNvSpPr/>
          <p:nvPr/>
        </p:nvSpPr>
        <p:spPr>
          <a:xfrm>
            <a:off x="6629400" y="5367528"/>
            <a:ext cx="82296" cy="82296"/>
          </a:xfrm>
          <a:prstGeom prst="ellipse">
            <a:avLst/>
          </a:prstGeom>
          <a:solidFill>
            <a:srgbClr val="FF6F59"/>
          </a:solidFill>
          <a:ln/>
        </p:spPr>
      </p:sp>
      <p:sp>
        <p:nvSpPr>
          <p:cNvPr id="32" name="Text 28"/>
          <p:cNvSpPr/>
          <p:nvPr/>
        </p:nvSpPr>
        <p:spPr>
          <a:xfrm>
            <a:off x="6858000" y="5257800"/>
            <a:ext cx="4480560" cy="365760"/>
          </a:xfrm>
          <a:prstGeom prst="rect">
            <a:avLst/>
          </a:prstGeom>
          <a:noFill/>
          <a:ln/>
        </p:spPr>
        <p:txBody>
          <a:bodyPr wrap="square" rtlCol="0" anchor="ctr"/>
          <a:lstStyle/>
          <a:p>
            <a:pPr indent="0" marL="0">
              <a:buNone/>
            </a:pPr>
            <a:r>
              <a:rPr lang="en-US" sz="1250" dirty="0">
                <a:solidFill>
                  <a:srgbClr val="EAF3F5"/>
                </a:solidFill>
                <a:latin typeface="Calibri" pitchFamily="34" charset="0"/>
                <a:ea typeface="Calibri" pitchFamily="34" charset="-122"/>
                <a:cs typeface="Calibri" pitchFamily="34" charset="-120"/>
              </a:rPr>
              <a:t>Rank suitable implant options</a:t>
            </a:r>
            <a:endParaRPr lang="en-US" sz="1250" dirty="0"/>
          </a:p>
        </p:txBody>
      </p:sp>
      <p:sp>
        <p:nvSpPr>
          <p:cNvPr id="33" name="Text 29"/>
          <p:cNvSpPr/>
          <p:nvPr/>
        </p:nvSpPr>
        <p:spPr>
          <a:xfrm>
            <a:off x="548640" y="6400800"/>
            <a:ext cx="10789920" cy="320040"/>
          </a:xfrm>
          <a:prstGeom prst="rect">
            <a:avLst/>
          </a:prstGeom>
          <a:noFill/>
          <a:ln/>
        </p:spPr>
        <p:txBody>
          <a:bodyPr wrap="square" rtlCol="0" anchor="ctr"/>
          <a:lstStyle/>
          <a:p>
            <a:pPr indent="0" marL="0">
              <a:buNone/>
            </a:pPr>
            <a:r>
              <a:rPr lang="en-US" sz="1150" i="1" dirty="0">
                <a:solidFill>
                  <a:srgbClr val="13707A"/>
                </a:solidFill>
                <a:latin typeface="Calibri" pitchFamily="34" charset="0"/>
                <a:ea typeface="Calibri" pitchFamily="34" charset="-122"/>
                <a:cs typeface="Calibri" pitchFamily="34" charset="-120"/>
              </a:rPr>
              <a:t>Both modules share one segmentation backbone and feed a single structured patient report.</a:t>
            </a:r>
            <a:endParaRPr lang="en-US" sz="1150" dirty="0"/>
          </a:p>
        </p:txBody>
      </p:sp>
      <p:sp>
        <p:nvSpPr>
          <p:cNvPr id="34" name="Text 30"/>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AA7B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3707A"/>
                </a:solidFill>
                <a:latin typeface="Calibri" pitchFamily="34" charset="0"/>
                <a:ea typeface="Calibri" pitchFamily="34" charset="-122"/>
                <a:cs typeface="Calibri" pitchFamily="34" charset="-120"/>
              </a:rPr>
              <a:t>MODULE 1 · MENISCUS AI</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0B2E4F"/>
                </a:solidFill>
                <a:latin typeface="Cambria" pitchFamily="34" charset="0"/>
                <a:ea typeface="Cambria" pitchFamily="34" charset="-122"/>
                <a:cs typeface="Cambria" pitchFamily="34" charset="-120"/>
              </a:rPr>
              <a:t>From MRI Slice to Meniscus Thickness Profile</a:t>
            </a:r>
            <a:endParaRPr lang="en-US" sz="2700" dirty="0"/>
          </a:p>
        </p:txBody>
      </p:sp>
      <p:sp>
        <p:nvSpPr>
          <p:cNvPr id="4" name="Shape 2"/>
          <p:cNvSpPr/>
          <p:nvPr/>
        </p:nvSpPr>
        <p:spPr>
          <a:xfrm>
            <a:off x="548640" y="1554480"/>
            <a:ext cx="5532120" cy="4800600"/>
          </a:xfrm>
          <a:prstGeom prst="roundRect">
            <a:avLst>
              <a:gd name="adj" fmla="val 2286"/>
            </a:avLst>
          </a:prstGeom>
          <a:solidFill>
            <a:srgbClr val="0B2E4F"/>
          </a:solidFill>
          <a:ln/>
        </p:spPr>
      </p:sp>
      <p:sp>
        <p:nvSpPr>
          <p:cNvPr id="5" name="Shape 3"/>
          <p:cNvSpPr/>
          <p:nvPr/>
        </p:nvSpPr>
        <p:spPr>
          <a:xfrm>
            <a:off x="548640" y="1554480"/>
            <a:ext cx="5532120" cy="566928"/>
          </a:xfrm>
          <a:prstGeom prst="roundRect">
            <a:avLst>
              <a:gd name="adj" fmla="val 19355"/>
            </a:avLst>
          </a:prstGeom>
          <a:solidFill>
            <a:srgbClr val="081F38"/>
          </a:solidFill>
          <a:ln/>
        </p:spPr>
      </p:sp>
      <p:pic>
        <p:nvPicPr>
          <p:cNvPr id="6" name="Image 0" descr="icons/bone_teal.png">    </p:cNvPr>
          <p:cNvPicPr>
            <a:picLocks noChangeAspect="1"/>
          </p:cNvPicPr>
          <p:nvPr/>
        </p:nvPicPr>
        <p:blipFill>
          <a:blip r:embed="rId1"/>
          <a:stretch>
            <a:fillRect/>
          </a:stretch>
        </p:blipFill>
        <p:spPr>
          <a:xfrm>
            <a:off x="777240" y="1691640"/>
            <a:ext cx="292608" cy="292608"/>
          </a:xfrm>
          <a:prstGeom prst="rect">
            <a:avLst/>
          </a:prstGeom>
        </p:spPr>
      </p:pic>
      <p:sp>
        <p:nvSpPr>
          <p:cNvPr id="7" name="Text 4"/>
          <p:cNvSpPr/>
          <p:nvPr/>
        </p:nvSpPr>
        <p:spPr>
          <a:xfrm>
            <a:off x="1143000" y="1673352"/>
            <a:ext cx="365760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MENISCUS AI  ·  Case Viewer</a:t>
            </a:r>
            <a:endParaRPr lang="en-US" sz="1300" dirty="0"/>
          </a:p>
        </p:txBody>
      </p:sp>
      <p:sp>
        <p:nvSpPr>
          <p:cNvPr id="8" name="Text 5"/>
          <p:cNvSpPr/>
          <p:nvPr/>
        </p:nvSpPr>
        <p:spPr>
          <a:xfrm>
            <a:off x="822960" y="2286000"/>
            <a:ext cx="1828800" cy="228600"/>
          </a:xfrm>
          <a:prstGeom prst="rect">
            <a:avLst/>
          </a:prstGeom>
          <a:noFill/>
          <a:ln/>
        </p:spPr>
        <p:txBody>
          <a:bodyPr wrap="square" rtlCol="0" anchor="ctr"/>
          <a:lstStyle/>
          <a:p>
            <a:pPr indent="0" marL="0">
              <a:buNone/>
            </a:pPr>
            <a:r>
              <a:rPr lang="en-US" sz="950" b="1" spc="100" kern="0" dirty="0">
                <a:solidFill>
                  <a:srgbClr val="8FB0C4"/>
                </a:solidFill>
                <a:latin typeface="Calibri" pitchFamily="34" charset="0"/>
                <a:ea typeface="Calibri" pitchFamily="34" charset="-122"/>
                <a:cs typeface="Calibri" pitchFamily="34" charset="-120"/>
              </a:rPr>
              <a:t>MRI CASE</a:t>
            </a:r>
            <a:endParaRPr lang="en-US" sz="950" dirty="0"/>
          </a:p>
        </p:txBody>
      </p:sp>
      <p:sp>
        <p:nvSpPr>
          <p:cNvPr id="9" name="Shape 6"/>
          <p:cNvSpPr/>
          <p:nvPr/>
        </p:nvSpPr>
        <p:spPr>
          <a:xfrm>
            <a:off x="822960" y="2542032"/>
            <a:ext cx="2377440" cy="365760"/>
          </a:xfrm>
          <a:prstGeom prst="roundRect">
            <a:avLst>
              <a:gd name="adj" fmla="val 15000"/>
            </a:avLst>
          </a:prstGeom>
          <a:solidFill>
            <a:srgbClr val="12395A"/>
          </a:solidFill>
          <a:ln w="12700">
            <a:solidFill>
              <a:srgbClr val="1E4E76"/>
            </a:solidFill>
            <a:prstDash val="solid"/>
          </a:ln>
        </p:spPr>
      </p:sp>
      <p:sp>
        <p:nvSpPr>
          <p:cNvPr id="10" name="Text 7"/>
          <p:cNvSpPr/>
          <p:nvPr/>
        </p:nvSpPr>
        <p:spPr>
          <a:xfrm>
            <a:off x="960120" y="2542032"/>
            <a:ext cx="2148840" cy="36576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Case: 9770217_RIGHT</a:t>
            </a:r>
            <a:endParaRPr lang="en-US" sz="1000" dirty="0"/>
          </a:p>
        </p:txBody>
      </p:sp>
      <p:sp>
        <p:nvSpPr>
          <p:cNvPr id="11" name="Text 8"/>
          <p:cNvSpPr/>
          <p:nvPr/>
        </p:nvSpPr>
        <p:spPr>
          <a:xfrm>
            <a:off x="3429000" y="2286000"/>
            <a:ext cx="2377440" cy="228600"/>
          </a:xfrm>
          <a:prstGeom prst="rect">
            <a:avLst/>
          </a:prstGeom>
          <a:noFill/>
          <a:ln/>
        </p:spPr>
        <p:txBody>
          <a:bodyPr wrap="square" rtlCol="0" anchor="ctr"/>
          <a:lstStyle/>
          <a:p>
            <a:pPr indent="0" marL="0">
              <a:buNone/>
            </a:pPr>
            <a:r>
              <a:rPr lang="en-US" sz="950" b="1" spc="100" kern="0" dirty="0">
                <a:solidFill>
                  <a:srgbClr val="8FB0C4"/>
                </a:solidFill>
                <a:latin typeface="Calibri" pitchFamily="34" charset="0"/>
                <a:ea typeface="Calibri" pitchFamily="34" charset="-122"/>
                <a:cs typeface="Calibri" pitchFamily="34" charset="-120"/>
              </a:rPr>
              <a:t>SLICE  75 / 130</a:t>
            </a:r>
            <a:endParaRPr lang="en-US" sz="950" dirty="0"/>
          </a:p>
        </p:txBody>
      </p:sp>
      <p:sp>
        <p:nvSpPr>
          <p:cNvPr id="12" name="Shape 9"/>
          <p:cNvSpPr/>
          <p:nvPr/>
        </p:nvSpPr>
        <p:spPr>
          <a:xfrm>
            <a:off x="3429000" y="2651760"/>
            <a:ext cx="2194560" cy="54864"/>
          </a:xfrm>
          <a:prstGeom prst="roundRect">
            <a:avLst/>
          </a:prstGeom>
          <a:solidFill>
            <a:srgbClr val="1E4E76"/>
          </a:solidFill>
          <a:ln/>
        </p:spPr>
      </p:sp>
      <p:sp>
        <p:nvSpPr>
          <p:cNvPr id="13" name="Shape 10"/>
          <p:cNvSpPr/>
          <p:nvPr/>
        </p:nvSpPr>
        <p:spPr>
          <a:xfrm>
            <a:off x="4892040" y="2606040"/>
            <a:ext cx="146304" cy="146304"/>
          </a:xfrm>
          <a:prstGeom prst="ellipse">
            <a:avLst/>
          </a:prstGeom>
          <a:solidFill>
            <a:srgbClr val="1B98A0"/>
          </a:solidFill>
          <a:ln/>
        </p:spPr>
      </p:sp>
      <p:sp>
        <p:nvSpPr>
          <p:cNvPr id="14" name="Shape 11"/>
          <p:cNvSpPr/>
          <p:nvPr/>
        </p:nvSpPr>
        <p:spPr>
          <a:xfrm>
            <a:off x="822960" y="3063240"/>
            <a:ext cx="2377440" cy="1600200"/>
          </a:xfrm>
          <a:prstGeom prst="roundRect">
            <a:avLst>
              <a:gd name="adj" fmla="val 4571"/>
            </a:avLst>
          </a:prstGeom>
          <a:solidFill>
            <a:srgbClr val="0E2740"/>
          </a:solidFill>
          <a:ln w="12700">
            <a:solidFill>
              <a:srgbClr val="1E4E76"/>
            </a:solidFill>
            <a:prstDash val="solid"/>
          </a:ln>
        </p:spPr>
      </p:sp>
      <p:sp>
        <p:nvSpPr>
          <p:cNvPr id="15" name="Text 12"/>
          <p:cNvSpPr/>
          <p:nvPr/>
        </p:nvSpPr>
        <p:spPr>
          <a:xfrm>
            <a:off x="822960" y="3154680"/>
            <a:ext cx="2377440" cy="228600"/>
          </a:xfrm>
          <a:prstGeom prst="rect">
            <a:avLst/>
          </a:prstGeom>
          <a:noFill/>
          <a:ln/>
        </p:spPr>
        <p:txBody>
          <a:bodyPr wrap="square" rtlCol="0" anchor="ctr"/>
          <a:lstStyle/>
          <a:p>
            <a:pPr algn="ctr" indent="0" marL="0">
              <a:buNone/>
            </a:pPr>
            <a:r>
              <a:rPr lang="en-US" sz="900" b="1" spc="100" kern="0" dirty="0">
                <a:solidFill>
                  <a:srgbClr val="6FD6DB"/>
                </a:solidFill>
                <a:latin typeface="Calibri" pitchFamily="34" charset="0"/>
                <a:ea typeface="Calibri" pitchFamily="34" charset="-122"/>
                <a:cs typeface="Calibri" pitchFamily="34" charset="-120"/>
              </a:rPr>
              <a:t>MRI IMAGE</a:t>
            </a:r>
            <a:endParaRPr lang="en-US" sz="900" dirty="0"/>
          </a:p>
        </p:txBody>
      </p:sp>
      <p:pic>
        <p:nvPicPr>
          <p:cNvPr id="16" name="Image 1" descr="icons/scan_teal.png">    </p:cNvPr>
          <p:cNvPicPr>
            <a:picLocks noChangeAspect="1"/>
          </p:cNvPicPr>
          <p:nvPr/>
        </p:nvPicPr>
        <p:blipFill>
          <a:blip r:embed="rId2"/>
          <a:stretch>
            <a:fillRect/>
          </a:stretch>
        </p:blipFill>
        <p:spPr>
          <a:xfrm>
            <a:off x="1600200" y="3520440"/>
            <a:ext cx="822960" cy="822960"/>
          </a:xfrm>
          <a:prstGeom prst="rect">
            <a:avLst/>
          </a:prstGeom>
        </p:spPr>
      </p:pic>
      <p:sp>
        <p:nvSpPr>
          <p:cNvPr id="17" name="Shape 13"/>
          <p:cNvSpPr/>
          <p:nvPr/>
        </p:nvSpPr>
        <p:spPr>
          <a:xfrm>
            <a:off x="3429000" y="3063240"/>
            <a:ext cx="2377440" cy="1600200"/>
          </a:xfrm>
          <a:prstGeom prst="roundRect">
            <a:avLst>
              <a:gd name="adj" fmla="val 4571"/>
            </a:avLst>
          </a:prstGeom>
          <a:solidFill>
            <a:srgbClr val="0E2740"/>
          </a:solidFill>
          <a:ln w="12700">
            <a:solidFill>
              <a:srgbClr val="1E4E76"/>
            </a:solidFill>
            <a:prstDash val="solid"/>
          </a:ln>
        </p:spPr>
      </p:sp>
      <p:sp>
        <p:nvSpPr>
          <p:cNvPr id="18" name="Text 14"/>
          <p:cNvSpPr/>
          <p:nvPr/>
        </p:nvSpPr>
        <p:spPr>
          <a:xfrm>
            <a:off x="3429000" y="3154680"/>
            <a:ext cx="2377440" cy="228600"/>
          </a:xfrm>
          <a:prstGeom prst="rect">
            <a:avLst/>
          </a:prstGeom>
          <a:noFill/>
          <a:ln/>
        </p:spPr>
        <p:txBody>
          <a:bodyPr wrap="square" rtlCol="0" anchor="ctr"/>
          <a:lstStyle/>
          <a:p>
            <a:pPr algn="ctr" indent="0" marL="0">
              <a:buNone/>
            </a:pPr>
            <a:r>
              <a:rPr lang="en-US" sz="900" b="1" spc="100" kern="0" dirty="0">
                <a:solidFill>
                  <a:srgbClr val="6FD6DB"/>
                </a:solidFill>
                <a:latin typeface="Calibri" pitchFamily="34" charset="0"/>
                <a:ea typeface="Calibri" pitchFamily="34" charset="-122"/>
                <a:cs typeface="Calibri" pitchFamily="34" charset="-120"/>
              </a:rPr>
              <a:t>AI SEGMENTATION</a:t>
            </a:r>
            <a:endParaRPr lang="en-US" sz="900" dirty="0"/>
          </a:p>
        </p:txBody>
      </p:sp>
      <p:pic>
        <p:nvPicPr>
          <p:cNvPr id="19" name="Image 2" descr="icons/layers_teal.png">    </p:cNvPr>
          <p:cNvPicPr>
            <a:picLocks noChangeAspect="1"/>
          </p:cNvPicPr>
          <p:nvPr/>
        </p:nvPicPr>
        <p:blipFill>
          <a:blip r:embed="rId3"/>
          <a:stretch>
            <a:fillRect/>
          </a:stretch>
        </p:blipFill>
        <p:spPr>
          <a:xfrm>
            <a:off x="4206240" y="3520440"/>
            <a:ext cx="822960" cy="822960"/>
          </a:xfrm>
          <a:prstGeom prst="rect">
            <a:avLst/>
          </a:prstGeom>
        </p:spPr>
      </p:pic>
      <p:sp>
        <p:nvSpPr>
          <p:cNvPr id="20" name="Shape 15"/>
          <p:cNvSpPr/>
          <p:nvPr/>
        </p:nvSpPr>
        <p:spPr>
          <a:xfrm>
            <a:off x="3611880" y="4343400"/>
            <a:ext cx="2011680" cy="256032"/>
          </a:xfrm>
          <a:prstGeom prst="roundRect">
            <a:avLst>
              <a:gd name="adj" fmla="val 50000"/>
            </a:avLst>
          </a:prstGeom>
          <a:solidFill>
            <a:srgbClr val="163C2E"/>
          </a:solidFill>
          <a:ln/>
        </p:spPr>
      </p:sp>
      <p:pic>
        <p:nvPicPr>
          <p:cNvPr id="21" name="Image 3" descr="icons/check_teal.png">    </p:cNvPr>
          <p:cNvPicPr>
            <a:picLocks noChangeAspect="1"/>
          </p:cNvPicPr>
          <p:nvPr/>
        </p:nvPicPr>
        <p:blipFill>
          <a:blip r:embed="rId4"/>
          <a:stretch>
            <a:fillRect/>
          </a:stretch>
        </p:blipFill>
        <p:spPr>
          <a:xfrm>
            <a:off x="3675888" y="4379976"/>
            <a:ext cx="182880" cy="182880"/>
          </a:xfrm>
          <a:prstGeom prst="rect">
            <a:avLst/>
          </a:prstGeom>
        </p:spPr>
      </p:pic>
      <p:sp>
        <p:nvSpPr>
          <p:cNvPr id="22" name="Text 16"/>
          <p:cNvSpPr/>
          <p:nvPr/>
        </p:nvSpPr>
        <p:spPr>
          <a:xfrm>
            <a:off x="3913632" y="4343400"/>
            <a:ext cx="1691640" cy="256032"/>
          </a:xfrm>
          <a:prstGeom prst="rect">
            <a:avLst/>
          </a:prstGeom>
          <a:noFill/>
          <a:ln/>
        </p:spPr>
        <p:txBody>
          <a:bodyPr wrap="square" rtlCol="0" anchor="ctr"/>
          <a:lstStyle/>
          <a:p>
            <a:pPr indent="0" marL="0">
              <a:buNone/>
            </a:pPr>
            <a:r>
              <a:rPr lang="en-US" sz="900" dirty="0">
                <a:solidFill>
                  <a:srgbClr val="8FE0C9"/>
                </a:solidFill>
                <a:latin typeface="Calibri" pitchFamily="34" charset="0"/>
                <a:ea typeface="Calibri" pitchFamily="34" charset="-122"/>
                <a:cs typeface="Calibri" pitchFamily="34" charset="-120"/>
              </a:rPr>
              <a:t>Meniscus detected</a:t>
            </a:r>
            <a:endParaRPr lang="en-US" sz="900" dirty="0"/>
          </a:p>
        </p:txBody>
      </p:sp>
      <p:sp>
        <p:nvSpPr>
          <p:cNvPr id="23" name="Shape 17"/>
          <p:cNvSpPr/>
          <p:nvPr/>
        </p:nvSpPr>
        <p:spPr>
          <a:xfrm>
            <a:off x="822960" y="4846320"/>
            <a:ext cx="4983480" cy="1051560"/>
          </a:xfrm>
          <a:prstGeom prst="roundRect">
            <a:avLst>
              <a:gd name="adj" fmla="val 6957"/>
            </a:avLst>
          </a:prstGeom>
          <a:solidFill>
            <a:srgbClr val="0E2740"/>
          </a:solidFill>
          <a:ln w="12700">
            <a:solidFill>
              <a:srgbClr val="1E4E76"/>
            </a:solidFill>
            <a:prstDash val="solid"/>
          </a:ln>
        </p:spPr>
      </p:sp>
      <p:sp>
        <p:nvSpPr>
          <p:cNvPr id="24" name="Text 18"/>
          <p:cNvSpPr/>
          <p:nvPr/>
        </p:nvSpPr>
        <p:spPr>
          <a:xfrm>
            <a:off x="1005840" y="4956048"/>
            <a:ext cx="2377440" cy="274320"/>
          </a:xfrm>
          <a:prstGeom prst="rect">
            <a:avLst/>
          </a:prstGeom>
          <a:noFill/>
          <a:ln/>
        </p:spPr>
        <p:txBody>
          <a:bodyPr wrap="square" rtlCol="0" anchor="ctr"/>
          <a:lstStyle/>
          <a:p>
            <a:pPr indent="0" marL="0">
              <a:buNone/>
            </a:pPr>
            <a:r>
              <a:rPr lang="en-US" sz="1050" dirty="0">
                <a:solidFill>
                  <a:srgbClr val="AFC6D6"/>
                </a:solidFill>
                <a:latin typeface="Calibri" pitchFamily="34" charset="0"/>
                <a:ea typeface="Calibri" pitchFamily="34" charset="-122"/>
                <a:cs typeface="Calibri" pitchFamily="34" charset="-120"/>
              </a:rPr>
              <a:t>Meniscus volume</a:t>
            </a:r>
            <a:endParaRPr lang="en-US" sz="1050" dirty="0"/>
          </a:p>
        </p:txBody>
      </p:sp>
      <p:sp>
        <p:nvSpPr>
          <p:cNvPr id="25" name="Text 19"/>
          <p:cNvSpPr/>
          <p:nvPr/>
        </p:nvSpPr>
        <p:spPr>
          <a:xfrm>
            <a:off x="1005840" y="5212080"/>
            <a:ext cx="2377440" cy="457200"/>
          </a:xfrm>
          <a:prstGeom prst="rect">
            <a:avLst/>
          </a:prstGeom>
          <a:noFill/>
          <a:ln/>
        </p:spPr>
        <p:txBody>
          <a:bodyPr wrap="square" rtlCol="0" anchor="ctr"/>
          <a:lstStyle/>
          <a:p>
            <a:pPr indent="0" marL="0">
              <a:buNone/>
            </a:pPr>
            <a:r>
              <a:rPr lang="en-US" sz="2000" b="1" dirty="0">
                <a:solidFill>
                  <a:srgbClr val="1B98A0"/>
                </a:solidFill>
                <a:latin typeface="Cambria" pitchFamily="34" charset="0"/>
                <a:ea typeface="Cambria" pitchFamily="34" charset="-122"/>
                <a:cs typeface="Cambria" pitchFamily="34" charset="-120"/>
              </a:rPr>
              <a:t>4373.43 mm³</a:t>
            </a:r>
            <a:endParaRPr lang="en-US" sz="2000" dirty="0"/>
          </a:p>
        </p:txBody>
      </p:sp>
      <p:sp>
        <p:nvSpPr>
          <p:cNvPr id="26" name="Text 20"/>
          <p:cNvSpPr/>
          <p:nvPr/>
        </p:nvSpPr>
        <p:spPr>
          <a:xfrm>
            <a:off x="3429000" y="4956048"/>
            <a:ext cx="2286000" cy="274320"/>
          </a:xfrm>
          <a:prstGeom prst="rect">
            <a:avLst/>
          </a:prstGeom>
          <a:noFill/>
          <a:ln/>
        </p:spPr>
        <p:txBody>
          <a:bodyPr wrap="square" rtlCol="0" anchor="ctr"/>
          <a:lstStyle/>
          <a:p>
            <a:pPr indent="0" marL="0">
              <a:buNone/>
            </a:pPr>
            <a:r>
              <a:rPr lang="en-US" sz="1050" dirty="0">
                <a:solidFill>
                  <a:srgbClr val="AFC6D6"/>
                </a:solidFill>
                <a:latin typeface="Calibri" pitchFamily="34" charset="0"/>
                <a:ea typeface="Calibri" pitchFamily="34" charset="-122"/>
                <a:cs typeface="Calibri" pitchFamily="34" charset="-120"/>
              </a:rPr>
              <a:t>Detected slices</a:t>
            </a:r>
            <a:endParaRPr lang="en-US" sz="1050" dirty="0"/>
          </a:p>
        </p:txBody>
      </p:sp>
      <p:sp>
        <p:nvSpPr>
          <p:cNvPr id="27" name="Text 21"/>
          <p:cNvSpPr/>
          <p:nvPr/>
        </p:nvSpPr>
        <p:spPr>
          <a:xfrm>
            <a:off x="3429000" y="5212080"/>
            <a:ext cx="2286000" cy="45720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15 – 130</a:t>
            </a:r>
            <a:endParaRPr lang="en-US" sz="2000" dirty="0"/>
          </a:p>
        </p:txBody>
      </p:sp>
      <p:sp>
        <p:nvSpPr>
          <p:cNvPr id="28" name="Shape 22"/>
          <p:cNvSpPr/>
          <p:nvPr/>
        </p:nvSpPr>
        <p:spPr>
          <a:xfrm>
            <a:off x="822960" y="5989320"/>
            <a:ext cx="2377440" cy="292608"/>
          </a:xfrm>
          <a:prstGeom prst="roundRect">
            <a:avLst>
              <a:gd name="adj" fmla="val 50000"/>
            </a:avLst>
          </a:prstGeom>
          <a:solidFill>
            <a:srgbClr val="1B98A0"/>
          </a:solidFill>
          <a:ln/>
        </p:spPr>
      </p:sp>
      <p:sp>
        <p:nvSpPr>
          <p:cNvPr id="29" name="Text 23"/>
          <p:cNvSpPr/>
          <p:nvPr/>
        </p:nvSpPr>
        <p:spPr>
          <a:xfrm>
            <a:off x="822960" y="5989320"/>
            <a:ext cx="2377440" cy="292608"/>
          </a:xfrm>
          <a:prstGeom prst="rect">
            <a:avLst/>
          </a:prstGeom>
          <a:noFill/>
          <a:ln/>
        </p:spPr>
        <p:txBody>
          <a:bodyPr wrap="square" rtlCol="0" anchor="ctr"/>
          <a:lstStyle/>
          <a:p>
            <a:pPr algn="ctr" indent="0" marL="0">
              <a:buNone/>
            </a:pPr>
            <a:r>
              <a:rPr lang="en-US" sz="1000" b="1" dirty="0">
                <a:solidFill>
                  <a:srgbClr val="081F38"/>
                </a:solidFill>
                <a:latin typeface="Calibri" pitchFamily="34" charset="0"/>
                <a:ea typeface="Calibri" pitchFamily="34" charset="-122"/>
                <a:cs typeface="Calibri" pitchFamily="34" charset="-120"/>
              </a:rPr>
              <a:t>View 3D</a:t>
            </a:r>
            <a:endParaRPr lang="en-US" sz="1000" dirty="0"/>
          </a:p>
        </p:txBody>
      </p:sp>
      <p:sp>
        <p:nvSpPr>
          <p:cNvPr id="30" name="Shape 24"/>
          <p:cNvSpPr/>
          <p:nvPr/>
        </p:nvSpPr>
        <p:spPr>
          <a:xfrm>
            <a:off x="3429000" y="5989320"/>
            <a:ext cx="2377440" cy="292608"/>
          </a:xfrm>
          <a:prstGeom prst="roundRect">
            <a:avLst>
              <a:gd name="adj" fmla="val 50000"/>
            </a:avLst>
          </a:prstGeom>
          <a:ln w="12700">
            <a:solidFill>
              <a:srgbClr val="1B98A0"/>
            </a:solidFill>
            <a:prstDash val="solid"/>
          </a:ln>
        </p:spPr>
      </p:sp>
      <p:sp>
        <p:nvSpPr>
          <p:cNvPr id="31" name="Text 25"/>
          <p:cNvSpPr/>
          <p:nvPr/>
        </p:nvSpPr>
        <p:spPr>
          <a:xfrm>
            <a:off x="3429000" y="5989320"/>
            <a:ext cx="2377440" cy="292608"/>
          </a:xfrm>
          <a:prstGeom prst="rect">
            <a:avLst/>
          </a:prstGeom>
          <a:noFill/>
          <a:ln/>
        </p:spPr>
        <p:txBody>
          <a:bodyPr wrap="square" rtlCol="0" anchor="ctr"/>
          <a:lstStyle/>
          <a:p>
            <a:pPr algn="ctr" indent="0" marL="0">
              <a:buNone/>
            </a:pPr>
            <a:r>
              <a:rPr lang="en-US" sz="1000" b="1" dirty="0">
                <a:solidFill>
                  <a:srgbClr val="1B98A0"/>
                </a:solidFill>
                <a:latin typeface="Calibri" pitchFamily="34" charset="0"/>
                <a:ea typeface="Calibri" pitchFamily="34" charset="-122"/>
                <a:cs typeface="Calibri" pitchFamily="34" charset="-120"/>
              </a:rPr>
              <a:t>Generate Report</a:t>
            </a:r>
            <a:endParaRPr lang="en-US" sz="1000" dirty="0"/>
          </a:p>
        </p:txBody>
      </p:sp>
      <p:sp>
        <p:nvSpPr>
          <p:cNvPr id="32" name="Text 26"/>
          <p:cNvSpPr/>
          <p:nvPr/>
        </p:nvSpPr>
        <p:spPr>
          <a:xfrm>
            <a:off x="6400800" y="1691640"/>
            <a:ext cx="5029200" cy="274320"/>
          </a:xfrm>
          <a:prstGeom prst="rect">
            <a:avLst/>
          </a:prstGeom>
          <a:noFill/>
          <a:ln/>
        </p:spPr>
        <p:txBody>
          <a:bodyPr wrap="square" rtlCol="0" anchor="ctr"/>
          <a:lstStyle/>
          <a:p>
            <a:pPr indent="0" marL="0">
              <a:buNone/>
            </a:pPr>
            <a:r>
              <a:rPr lang="en-US" sz="1200" b="1" spc="150" kern="0" dirty="0">
                <a:solidFill>
                  <a:srgbClr val="13707A"/>
                </a:solidFill>
                <a:latin typeface="Calibri" pitchFamily="34" charset="0"/>
                <a:ea typeface="Calibri" pitchFamily="34" charset="-122"/>
                <a:cs typeface="Calibri" pitchFamily="34" charset="-120"/>
              </a:rPr>
              <a:t>WHAT THIS MODULE DELIVERS</a:t>
            </a:r>
            <a:endParaRPr lang="en-US" sz="1200" dirty="0"/>
          </a:p>
        </p:txBody>
      </p:sp>
      <p:sp>
        <p:nvSpPr>
          <p:cNvPr id="33" name="Shape 27"/>
          <p:cNvSpPr/>
          <p:nvPr/>
        </p:nvSpPr>
        <p:spPr>
          <a:xfrm>
            <a:off x="6455664" y="2103120"/>
            <a:ext cx="530352" cy="530352"/>
          </a:xfrm>
          <a:prstGeom prst="ellipse">
            <a:avLst/>
          </a:prstGeom>
          <a:solidFill>
            <a:srgbClr val="E3F4F4"/>
          </a:solidFill>
          <a:ln/>
        </p:spPr>
      </p:sp>
      <p:pic>
        <p:nvPicPr>
          <p:cNvPr id="34" name="Image 4" descr="icons/ruler_teal.png">    </p:cNvPr>
          <p:cNvPicPr>
            <a:picLocks noChangeAspect="1"/>
          </p:cNvPicPr>
          <p:nvPr/>
        </p:nvPicPr>
        <p:blipFill>
          <a:blip r:embed="rId5"/>
          <a:stretch>
            <a:fillRect/>
          </a:stretch>
        </p:blipFill>
        <p:spPr>
          <a:xfrm>
            <a:off x="6582948" y="2230404"/>
            <a:ext cx="275783" cy="275783"/>
          </a:xfrm>
          <a:prstGeom prst="rect">
            <a:avLst/>
          </a:prstGeom>
        </p:spPr>
      </p:pic>
      <p:sp>
        <p:nvSpPr>
          <p:cNvPr id="35" name="Text 28"/>
          <p:cNvSpPr/>
          <p:nvPr/>
        </p:nvSpPr>
        <p:spPr>
          <a:xfrm>
            <a:off x="7114032" y="2084832"/>
            <a:ext cx="4297680" cy="292608"/>
          </a:xfrm>
          <a:prstGeom prst="rect">
            <a:avLst/>
          </a:prstGeom>
          <a:noFill/>
          <a:ln/>
        </p:spPr>
        <p:txBody>
          <a:bodyPr wrap="square" rtlCol="0" anchor="ctr"/>
          <a:lstStyle/>
          <a:p>
            <a:pPr indent="0" marL="0">
              <a:buNone/>
            </a:pPr>
            <a:r>
              <a:rPr lang="en-US" sz="1300" b="1" dirty="0">
                <a:solidFill>
                  <a:srgbClr val="16283A"/>
                </a:solidFill>
                <a:latin typeface="Calibri" pitchFamily="34" charset="0"/>
                <a:ea typeface="Calibri" pitchFamily="34" charset="-122"/>
                <a:cs typeface="Calibri" pitchFamily="34" charset="-120"/>
              </a:rPr>
              <a:t>Thickness at Predefined Locations</a:t>
            </a:r>
            <a:endParaRPr lang="en-US" sz="1300" dirty="0"/>
          </a:p>
        </p:txBody>
      </p:sp>
      <p:sp>
        <p:nvSpPr>
          <p:cNvPr id="36" name="Text 29"/>
          <p:cNvSpPr/>
          <p:nvPr/>
        </p:nvSpPr>
        <p:spPr>
          <a:xfrm>
            <a:off x="7114032" y="2377440"/>
            <a:ext cx="4297680" cy="45720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Standardized measurement points across the joint space, not a single visual estimate.</a:t>
            </a:r>
            <a:endParaRPr lang="en-US" sz="1050" dirty="0"/>
          </a:p>
        </p:txBody>
      </p:sp>
      <p:sp>
        <p:nvSpPr>
          <p:cNvPr id="37" name="Shape 30"/>
          <p:cNvSpPr/>
          <p:nvPr/>
        </p:nvSpPr>
        <p:spPr>
          <a:xfrm>
            <a:off x="6455664" y="3136392"/>
            <a:ext cx="530352" cy="530352"/>
          </a:xfrm>
          <a:prstGeom prst="ellipse">
            <a:avLst/>
          </a:prstGeom>
          <a:solidFill>
            <a:srgbClr val="E3F4F4"/>
          </a:solidFill>
          <a:ln/>
        </p:spPr>
      </p:sp>
      <p:pic>
        <p:nvPicPr>
          <p:cNvPr id="38" name="Image 5" descr="icons/chart_teal.png">    </p:cNvPr>
          <p:cNvPicPr>
            <a:picLocks noChangeAspect="1"/>
          </p:cNvPicPr>
          <p:nvPr/>
        </p:nvPicPr>
        <p:blipFill>
          <a:blip r:embed="rId6"/>
          <a:stretch>
            <a:fillRect/>
          </a:stretch>
        </p:blipFill>
        <p:spPr>
          <a:xfrm>
            <a:off x="6582948" y="3263676"/>
            <a:ext cx="275783" cy="275783"/>
          </a:xfrm>
          <a:prstGeom prst="rect">
            <a:avLst/>
          </a:prstGeom>
        </p:spPr>
      </p:pic>
      <p:sp>
        <p:nvSpPr>
          <p:cNvPr id="39" name="Text 31"/>
          <p:cNvSpPr/>
          <p:nvPr/>
        </p:nvSpPr>
        <p:spPr>
          <a:xfrm>
            <a:off x="7114032" y="3118104"/>
            <a:ext cx="4297680" cy="292608"/>
          </a:xfrm>
          <a:prstGeom prst="rect">
            <a:avLst/>
          </a:prstGeom>
          <a:noFill/>
          <a:ln/>
        </p:spPr>
        <p:txBody>
          <a:bodyPr wrap="square" rtlCol="0" anchor="ctr"/>
          <a:lstStyle/>
          <a:p>
            <a:pPr indent="0" marL="0">
              <a:buNone/>
            </a:pPr>
            <a:r>
              <a:rPr lang="en-US" sz="1300" b="1" dirty="0">
                <a:solidFill>
                  <a:srgbClr val="16283A"/>
                </a:solidFill>
                <a:latin typeface="Calibri" pitchFamily="34" charset="0"/>
                <a:ea typeface="Calibri" pitchFamily="34" charset="-122"/>
                <a:cs typeface="Calibri" pitchFamily="34" charset="-120"/>
              </a:rPr>
              <a:t>OA vs. Non-OA Comparison</a:t>
            </a:r>
            <a:endParaRPr lang="en-US" sz="1300" dirty="0"/>
          </a:p>
        </p:txBody>
      </p:sp>
      <p:sp>
        <p:nvSpPr>
          <p:cNvPr id="40" name="Text 32"/>
          <p:cNvSpPr/>
          <p:nvPr/>
        </p:nvSpPr>
        <p:spPr>
          <a:xfrm>
            <a:off x="7114032" y="3410712"/>
            <a:ext cx="4297680" cy="45720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Quantitative measurements benchmarked against clinically labelled cases.</a:t>
            </a:r>
            <a:endParaRPr lang="en-US" sz="1050" dirty="0"/>
          </a:p>
        </p:txBody>
      </p:sp>
      <p:sp>
        <p:nvSpPr>
          <p:cNvPr id="41" name="Shape 33"/>
          <p:cNvSpPr/>
          <p:nvPr/>
        </p:nvSpPr>
        <p:spPr>
          <a:xfrm>
            <a:off x="6455664" y="4169664"/>
            <a:ext cx="530352" cy="530352"/>
          </a:xfrm>
          <a:prstGeom prst="ellipse">
            <a:avLst/>
          </a:prstGeom>
          <a:solidFill>
            <a:srgbClr val="E3F4F4"/>
          </a:solidFill>
          <a:ln/>
        </p:spPr>
      </p:sp>
      <p:pic>
        <p:nvPicPr>
          <p:cNvPr id="42" name="Image 6" descr="icons/users_teal.png">    </p:cNvPr>
          <p:cNvPicPr>
            <a:picLocks noChangeAspect="1"/>
          </p:cNvPicPr>
          <p:nvPr/>
        </p:nvPicPr>
        <p:blipFill>
          <a:blip r:embed="rId7"/>
          <a:stretch>
            <a:fillRect/>
          </a:stretch>
        </p:blipFill>
        <p:spPr>
          <a:xfrm>
            <a:off x="6582948" y="4296948"/>
            <a:ext cx="275783" cy="275783"/>
          </a:xfrm>
          <a:prstGeom prst="rect">
            <a:avLst/>
          </a:prstGeom>
        </p:spPr>
      </p:pic>
      <p:sp>
        <p:nvSpPr>
          <p:cNvPr id="43" name="Text 34"/>
          <p:cNvSpPr/>
          <p:nvPr/>
        </p:nvSpPr>
        <p:spPr>
          <a:xfrm>
            <a:off x="7114032" y="4151376"/>
            <a:ext cx="4297680" cy="292608"/>
          </a:xfrm>
          <a:prstGeom prst="rect">
            <a:avLst/>
          </a:prstGeom>
          <a:noFill/>
          <a:ln/>
        </p:spPr>
        <p:txBody>
          <a:bodyPr wrap="square" rtlCol="0" anchor="ctr"/>
          <a:lstStyle/>
          <a:p>
            <a:pPr indent="0" marL="0">
              <a:buNone/>
            </a:pPr>
            <a:r>
              <a:rPr lang="en-US" sz="1300" b="1" dirty="0">
                <a:solidFill>
                  <a:srgbClr val="16283A"/>
                </a:solidFill>
                <a:latin typeface="Calibri" pitchFamily="34" charset="0"/>
                <a:ea typeface="Calibri" pitchFamily="34" charset="-122"/>
                <a:cs typeface="Calibri" pitchFamily="34" charset="-120"/>
              </a:rPr>
              <a:t>Age &amp; Sex-Stratified Analysis</a:t>
            </a:r>
            <a:endParaRPr lang="en-US" sz="1300" dirty="0"/>
          </a:p>
        </p:txBody>
      </p:sp>
      <p:sp>
        <p:nvSpPr>
          <p:cNvPr id="44" name="Text 35"/>
          <p:cNvSpPr/>
          <p:nvPr/>
        </p:nvSpPr>
        <p:spPr>
          <a:xfrm>
            <a:off x="7114032" y="4443984"/>
            <a:ext cx="4297680" cy="45720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Separate population analysis to surface real, measurable differences.</a:t>
            </a:r>
            <a:endParaRPr lang="en-US" sz="1050" dirty="0"/>
          </a:p>
        </p:txBody>
      </p:sp>
      <p:sp>
        <p:nvSpPr>
          <p:cNvPr id="45" name="Shape 36"/>
          <p:cNvSpPr/>
          <p:nvPr/>
        </p:nvSpPr>
        <p:spPr>
          <a:xfrm>
            <a:off x="6455664" y="5202936"/>
            <a:ext cx="530352" cy="530352"/>
          </a:xfrm>
          <a:prstGeom prst="ellipse">
            <a:avLst/>
          </a:prstGeom>
          <a:solidFill>
            <a:srgbClr val="E3F4F4"/>
          </a:solidFill>
          <a:ln/>
        </p:spPr>
      </p:sp>
      <p:pic>
        <p:nvPicPr>
          <p:cNvPr id="46" name="Image 7" descr="icons/file_teal.png">    </p:cNvPr>
          <p:cNvPicPr>
            <a:picLocks noChangeAspect="1"/>
          </p:cNvPicPr>
          <p:nvPr/>
        </p:nvPicPr>
        <p:blipFill>
          <a:blip r:embed="rId8"/>
          <a:stretch>
            <a:fillRect/>
          </a:stretch>
        </p:blipFill>
        <p:spPr>
          <a:xfrm>
            <a:off x="6582948" y="5330220"/>
            <a:ext cx="275783" cy="275783"/>
          </a:xfrm>
          <a:prstGeom prst="rect">
            <a:avLst/>
          </a:prstGeom>
        </p:spPr>
      </p:pic>
      <p:sp>
        <p:nvSpPr>
          <p:cNvPr id="47" name="Text 37"/>
          <p:cNvSpPr/>
          <p:nvPr/>
        </p:nvSpPr>
        <p:spPr>
          <a:xfrm>
            <a:off x="7114032" y="5184648"/>
            <a:ext cx="4297680" cy="292608"/>
          </a:xfrm>
          <a:prstGeom prst="rect">
            <a:avLst/>
          </a:prstGeom>
          <a:noFill/>
          <a:ln/>
        </p:spPr>
        <p:txBody>
          <a:bodyPr wrap="square" rtlCol="0" anchor="ctr"/>
          <a:lstStyle/>
          <a:p>
            <a:pPr indent="0" marL="0">
              <a:buNone/>
            </a:pPr>
            <a:r>
              <a:rPr lang="en-US" sz="1300" b="1" dirty="0">
                <a:solidFill>
                  <a:srgbClr val="16283A"/>
                </a:solidFill>
                <a:latin typeface="Calibri" pitchFamily="34" charset="0"/>
                <a:ea typeface="Calibri" pitchFamily="34" charset="-122"/>
                <a:cs typeface="Calibri" pitchFamily="34" charset="-120"/>
              </a:rPr>
              <a:t>Structured, Reviewable Output</a:t>
            </a:r>
            <a:endParaRPr lang="en-US" sz="1300" dirty="0"/>
          </a:p>
        </p:txBody>
      </p:sp>
      <p:sp>
        <p:nvSpPr>
          <p:cNvPr id="48" name="Text 38"/>
          <p:cNvSpPr/>
          <p:nvPr/>
        </p:nvSpPr>
        <p:spPr>
          <a:xfrm>
            <a:off x="7114032" y="5477256"/>
            <a:ext cx="4297680" cy="45720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Every measurement is visualized on the source image for clinician verification.</a:t>
            </a:r>
            <a:endParaRPr lang="en-US" sz="1050" dirty="0"/>
          </a:p>
        </p:txBody>
      </p:sp>
      <p:sp>
        <p:nvSpPr>
          <p:cNvPr id="49" name="Text 39"/>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AA7B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3707A"/>
                </a:solidFill>
                <a:latin typeface="Calibri" pitchFamily="34" charset="0"/>
                <a:ea typeface="Calibri" pitchFamily="34" charset="-122"/>
                <a:cs typeface="Calibri" pitchFamily="34" charset="-120"/>
              </a:rPr>
              <a:t>MODULE 2 · MEDI-SIZE AI</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0B2E4F"/>
                </a:solidFill>
                <a:latin typeface="Cambria" pitchFamily="34" charset="0"/>
                <a:ea typeface="Cambria" pitchFamily="34" charset="-122"/>
                <a:cs typeface="Cambria" pitchFamily="34" charset="-120"/>
              </a:rPr>
              <a:t>Patient-Specific Femoral &amp; Tibial Implant Sizing</a:t>
            </a:r>
            <a:endParaRPr lang="en-US" sz="2700" dirty="0"/>
          </a:p>
        </p:txBody>
      </p:sp>
      <p:sp>
        <p:nvSpPr>
          <p:cNvPr id="4" name="Text 2"/>
          <p:cNvSpPr/>
          <p:nvPr/>
        </p:nvSpPr>
        <p:spPr>
          <a:xfrm>
            <a:off x="548640" y="1691640"/>
            <a:ext cx="5303520" cy="274320"/>
          </a:xfrm>
          <a:prstGeom prst="rect">
            <a:avLst/>
          </a:prstGeom>
          <a:noFill/>
          <a:ln/>
        </p:spPr>
        <p:txBody>
          <a:bodyPr wrap="square" rtlCol="0" anchor="ctr"/>
          <a:lstStyle/>
          <a:p>
            <a:pPr indent="0" marL="0">
              <a:buNone/>
            </a:pPr>
            <a:r>
              <a:rPr lang="en-US" sz="1200" b="1" spc="150" kern="0" dirty="0">
                <a:solidFill>
                  <a:srgbClr val="FF6F59"/>
                </a:solidFill>
                <a:latin typeface="Calibri" pitchFamily="34" charset="0"/>
                <a:ea typeface="Calibri" pitchFamily="34" charset="-122"/>
                <a:cs typeface="Calibri" pitchFamily="34" charset="-120"/>
              </a:rPr>
              <a:t>WHY IT MATTERS</a:t>
            </a:r>
            <a:endParaRPr lang="en-US" sz="1200" dirty="0"/>
          </a:p>
        </p:txBody>
      </p:sp>
      <p:sp>
        <p:nvSpPr>
          <p:cNvPr id="5" name="Text 3"/>
          <p:cNvSpPr/>
          <p:nvPr/>
        </p:nvSpPr>
        <p:spPr>
          <a:xfrm>
            <a:off x="548640" y="1993392"/>
            <a:ext cx="5349240" cy="1005840"/>
          </a:xfrm>
          <a:prstGeom prst="rect">
            <a:avLst/>
          </a:prstGeom>
          <a:noFill/>
          <a:ln/>
        </p:spPr>
        <p:txBody>
          <a:bodyPr wrap="square" rtlCol="0" anchor="ctr"/>
          <a:lstStyle/>
          <a:p>
            <a:pPr indent="0" marL="0">
              <a:lnSpc>
                <a:spcPts val="1600"/>
              </a:lnSpc>
              <a:buNone/>
            </a:pPr>
            <a:r>
              <a:rPr lang="en-US" sz="1200" dirty="0">
                <a:solidFill>
                  <a:srgbClr val="5B6B7A"/>
                </a:solidFill>
                <a:latin typeface="Calibri" pitchFamily="34" charset="0"/>
                <a:ea typeface="Calibri" pitchFamily="34" charset="-122"/>
                <a:cs typeface="Calibri" pitchFamily="34" charset="-120"/>
              </a:rPr>
              <a:t>Total knee arthroplasty (TKA) outcomes depend on implant fit. Mis-sized components can cause overhang, under-coverage, soft-tissue irritation, and altered biomechanics — so consistent, patient-specific measurement matters.</a:t>
            </a:r>
            <a:endParaRPr lang="en-US" sz="1200" dirty="0"/>
          </a:p>
        </p:txBody>
      </p:sp>
      <p:sp>
        <p:nvSpPr>
          <p:cNvPr id="6" name="Text 4"/>
          <p:cNvSpPr/>
          <p:nvPr/>
        </p:nvSpPr>
        <p:spPr>
          <a:xfrm>
            <a:off x="548640" y="3063240"/>
            <a:ext cx="5303520" cy="274320"/>
          </a:xfrm>
          <a:prstGeom prst="rect">
            <a:avLst/>
          </a:prstGeom>
          <a:noFill/>
          <a:ln/>
        </p:spPr>
        <p:txBody>
          <a:bodyPr wrap="square" rtlCol="0" anchor="ctr"/>
          <a:lstStyle/>
          <a:p>
            <a:pPr indent="0" marL="0">
              <a:buNone/>
            </a:pPr>
            <a:r>
              <a:rPr lang="en-US" sz="1200" b="1" spc="150" kern="0" dirty="0">
                <a:solidFill>
                  <a:srgbClr val="13707A"/>
                </a:solidFill>
                <a:latin typeface="Calibri" pitchFamily="34" charset="0"/>
                <a:ea typeface="Calibri" pitchFamily="34" charset="-122"/>
                <a:cs typeface="Calibri" pitchFamily="34" charset="-120"/>
              </a:rPr>
              <a:t>SIZING PIPELINE</a:t>
            </a:r>
            <a:endParaRPr lang="en-US" sz="1200" dirty="0"/>
          </a:p>
        </p:txBody>
      </p:sp>
      <p:sp>
        <p:nvSpPr>
          <p:cNvPr id="7" name="Shape 5"/>
          <p:cNvSpPr/>
          <p:nvPr/>
        </p:nvSpPr>
        <p:spPr>
          <a:xfrm>
            <a:off x="667512" y="3429000"/>
            <a:ext cx="457200" cy="457200"/>
          </a:xfrm>
          <a:prstGeom prst="ellipse">
            <a:avLst/>
          </a:prstGeom>
          <a:solidFill>
            <a:srgbClr val="FFFFFF"/>
          </a:solidFill>
          <a:ln/>
        </p:spPr>
      </p:sp>
      <p:pic>
        <p:nvPicPr>
          <p:cNvPr id="8" name="Image 0" descr="icons/scan_navy.png">    </p:cNvPr>
          <p:cNvPicPr>
            <a:picLocks noChangeAspect="1"/>
          </p:cNvPicPr>
          <p:nvPr/>
        </p:nvPicPr>
        <p:blipFill>
          <a:blip r:embed="rId1"/>
          <a:stretch>
            <a:fillRect/>
          </a:stretch>
        </p:blipFill>
        <p:spPr>
          <a:xfrm>
            <a:off x="777240" y="3538728"/>
            <a:ext cx="237744" cy="237744"/>
          </a:xfrm>
          <a:prstGeom prst="rect">
            <a:avLst/>
          </a:prstGeom>
        </p:spPr>
      </p:pic>
      <p:sp>
        <p:nvSpPr>
          <p:cNvPr id="9" name="Shape 6"/>
          <p:cNvSpPr/>
          <p:nvPr/>
        </p:nvSpPr>
        <p:spPr>
          <a:xfrm>
            <a:off x="667512" y="3401568"/>
            <a:ext cx="5166360" cy="512064"/>
          </a:xfrm>
          <a:prstGeom prst="roundRect">
            <a:avLst>
              <a:gd name="adj" fmla="val 10714"/>
            </a:avLst>
          </a:prstGeom>
          <a:solidFill>
            <a:srgbClr val="FFFFFF"/>
          </a:solidFill>
          <a:ln w="12700">
            <a:solidFill>
              <a:srgbClr val="DCE6E8"/>
            </a:solidFill>
            <a:prstDash val="solid"/>
          </a:ln>
        </p:spPr>
      </p:sp>
      <p:sp>
        <p:nvSpPr>
          <p:cNvPr id="10" name="Shape 7"/>
          <p:cNvSpPr/>
          <p:nvPr/>
        </p:nvSpPr>
        <p:spPr>
          <a:xfrm>
            <a:off x="731520" y="3474720"/>
            <a:ext cx="365760" cy="365760"/>
          </a:xfrm>
          <a:prstGeom prst="ellipse">
            <a:avLst/>
          </a:prstGeom>
          <a:solidFill>
            <a:srgbClr val="E3F4F4"/>
          </a:solidFill>
          <a:ln/>
        </p:spPr>
      </p:sp>
      <p:pic>
        <p:nvPicPr>
          <p:cNvPr id="11" name="Image 1" descr="icons/scan_teal.png">    </p:cNvPr>
          <p:cNvPicPr>
            <a:picLocks noChangeAspect="1"/>
          </p:cNvPicPr>
          <p:nvPr/>
        </p:nvPicPr>
        <p:blipFill>
          <a:blip r:embed="rId2"/>
          <a:stretch>
            <a:fillRect/>
          </a:stretch>
        </p:blipFill>
        <p:spPr>
          <a:xfrm>
            <a:off x="819302" y="3562502"/>
            <a:ext cx="190195" cy="190195"/>
          </a:xfrm>
          <a:prstGeom prst="rect">
            <a:avLst/>
          </a:prstGeom>
        </p:spPr>
      </p:pic>
      <p:sp>
        <p:nvSpPr>
          <p:cNvPr id="12" name="Text 8"/>
          <p:cNvSpPr/>
          <p:nvPr/>
        </p:nvSpPr>
        <p:spPr>
          <a:xfrm>
            <a:off x="1234440" y="3401568"/>
            <a:ext cx="4480560" cy="512064"/>
          </a:xfrm>
          <a:prstGeom prst="rect">
            <a:avLst/>
          </a:prstGeom>
          <a:noFill/>
          <a:ln/>
        </p:spPr>
        <p:txBody>
          <a:bodyPr wrap="square" rtlCol="0" anchor="ctr"/>
          <a:lstStyle/>
          <a:p>
            <a:pPr indent="0" marL="0">
              <a:buNone/>
            </a:pPr>
            <a:r>
              <a:rPr lang="en-US" sz="1200" b="1" dirty="0">
                <a:solidFill>
                  <a:srgbClr val="16283A"/>
                </a:solidFill>
                <a:latin typeface="Calibri" pitchFamily="34" charset="0"/>
                <a:ea typeface="Calibri" pitchFamily="34" charset="-122"/>
                <a:cs typeface="Calibri" pitchFamily="34" charset="-120"/>
              </a:rPr>
              <a:t>Select patient MRI case</a:t>
            </a:r>
            <a:endParaRPr lang="en-US" sz="1200" dirty="0"/>
          </a:p>
        </p:txBody>
      </p:sp>
      <p:sp>
        <p:nvSpPr>
          <p:cNvPr id="13" name="Shape 9"/>
          <p:cNvSpPr/>
          <p:nvPr/>
        </p:nvSpPr>
        <p:spPr>
          <a:xfrm>
            <a:off x="1097280" y="3913632"/>
            <a:ext cx="0" cy="91440"/>
          </a:xfrm>
          <a:prstGeom prst="line">
            <a:avLst/>
          </a:prstGeom>
          <a:noFill/>
          <a:ln w="19050">
            <a:solidFill>
              <a:srgbClr val="1B98A0"/>
            </a:solidFill>
            <a:prstDash val="solid"/>
          </a:ln>
        </p:spPr>
      </p:sp>
      <p:sp>
        <p:nvSpPr>
          <p:cNvPr id="14" name="Shape 10"/>
          <p:cNvSpPr/>
          <p:nvPr/>
        </p:nvSpPr>
        <p:spPr>
          <a:xfrm>
            <a:off x="667512" y="4032504"/>
            <a:ext cx="457200" cy="457200"/>
          </a:xfrm>
          <a:prstGeom prst="ellipse">
            <a:avLst/>
          </a:prstGeom>
          <a:solidFill>
            <a:srgbClr val="FFFFFF"/>
          </a:solidFill>
          <a:ln/>
        </p:spPr>
      </p:sp>
      <p:pic>
        <p:nvPicPr>
          <p:cNvPr id="15" name="Image 2" descr="icons/layers_navy.png">    </p:cNvPr>
          <p:cNvPicPr>
            <a:picLocks noChangeAspect="1"/>
          </p:cNvPicPr>
          <p:nvPr/>
        </p:nvPicPr>
        <p:blipFill>
          <a:blip r:embed="rId3"/>
          <a:stretch>
            <a:fillRect/>
          </a:stretch>
        </p:blipFill>
        <p:spPr>
          <a:xfrm>
            <a:off x="777240" y="4142232"/>
            <a:ext cx="237744" cy="237744"/>
          </a:xfrm>
          <a:prstGeom prst="rect">
            <a:avLst/>
          </a:prstGeom>
        </p:spPr>
      </p:pic>
      <p:sp>
        <p:nvSpPr>
          <p:cNvPr id="16" name="Shape 11"/>
          <p:cNvSpPr/>
          <p:nvPr/>
        </p:nvSpPr>
        <p:spPr>
          <a:xfrm>
            <a:off x="667512" y="4005072"/>
            <a:ext cx="5166360" cy="512064"/>
          </a:xfrm>
          <a:prstGeom prst="roundRect">
            <a:avLst>
              <a:gd name="adj" fmla="val 10714"/>
            </a:avLst>
          </a:prstGeom>
          <a:solidFill>
            <a:srgbClr val="FFFFFF"/>
          </a:solidFill>
          <a:ln w="12700">
            <a:solidFill>
              <a:srgbClr val="DCE6E8"/>
            </a:solidFill>
            <a:prstDash val="solid"/>
          </a:ln>
        </p:spPr>
      </p:sp>
      <p:sp>
        <p:nvSpPr>
          <p:cNvPr id="17" name="Shape 12"/>
          <p:cNvSpPr/>
          <p:nvPr/>
        </p:nvSpPr>
        <p:spPr>
          <a:xfrm>
            <a:off x="731520" y="4078224"/>
            <a:ext cx="365760" cy="365760"/>
          </a:xfrm>
          <a:prstGeom prst="ellipse">
            <a:avLst/>
          </a:prstGeom>
          <a:solidFill>
            <a:srgbClr val="E3F4F4"/>
          </a:solidFill>
          <a:ln/>
        </p:spPr>
      </p:sp>
      <p:pic>
        <p:nvPicPr>
          <p:cNvPr id="18" name="Image 3" descr="icons/layers_teal.png">    </p:cNvPr>
          <p:cNvPicPr>
            <a:picLocks noChangeAspect="1"/>
          </p:cNvPicPr>
          <p:nvPr/>
        </p:nvPicPr>
        <p:blipFill>
          <a:blip r:embed="rId4"/>
          <a:stretch>
            <a:fillRect/>
          </a:stretch>
        </p:blipFill>
        <p:spPr>
          <a:xfrm>
            <a:off x="819302" y="4166006"/>
            <a:ext cx="190195" cy="190195"/>
          </a:xfrm>
          <a:prstGeom prst="rect">
            <a:avLst/>
          </a:prstGeom>
        </p:spPr>
      </p:pic>
      <p:sp>
        <p:nvSpPr>
          <p:cNvPr id="19" name="Text 13"/>
          <p:cNvSpPr/>
          <p:nvPr/>
        </p:nvSpPr>
        <p:spPr>
          <a:xfrm>
            <a:off x="1234440" y="4005072"/>
            <a:ext cx="4480560" cy="512064"/>
          </a:xfrm>
          <a:prstGeom prst="rect">
            <a:avLst/>
          </a:prstGeom>
          <a:noFill/>
          <a:ln/>
        </p:spPr>
        <p:txBody>
          <a:bodyPr wrap="square" rtlCol="0" anchor="ctr"/>
          <a:lstStyle/>
          <a:p>
            <a:pPr indent="0" marL="0">
              <a:buNone/>
            </a:pPr>
            <a:r>
              <a:rPr lang="en-US" sz="1200" b="1" dirty="0">
                <a:solidFill>
                  <a:srgbClr val="16283A"/>
                </a:solidFill>
                <a:latin typeface="Calibri" pitchFamily="34" charset="0"/>
                <a:ea typeface="Calibri" pitchFamily="34" charset="-122"/>
                <a:cs typeface="Calibri" pitchFamily="34" charset="-120"/>
              </a:rPr>
              <a:t>AI segments femur &amp; tibia</a:t>
            </a:r>
            <a:endParaRPr lang="en-US" sz="1200" dirty="0"/>
          </a:p>
        </p:txBody>
      </p:sp>
      <p:sp>
        <p:nvSpPr>
          <p:cNvPr id="20" name="Shape 14"/>
          <p:cNvSpPr/>
          <p:nvPr/>
        </p:nvSpPr>
        <p:spPr>
          <a:xfrm>
            <a:off x="1097280" y="4517136"/>
            <a:ext cx="0" cy="91440"/>
          </a:xfrm>
          <a:prstGeom prst="line">
            <a:avLst/>
          </a:prstGeom>
          <a:noFill/>
          <a:ln w="19050">
            <a:solidFill>
              <a:srgbClr val="1B98A0"/>
            </a:solidFill>
            <a:prstDash val="solid"/>
          </a:ln>
        </p:spPr>
      </p:sp>
      <p:sp>
        <p:nvSpPr>
          <p:cNvPr id="21" name="Shape 15"/>
          <p:cNvSpPr/>
          <p:nvPr/>
        </p:nvSpPr>
        <p:spPr>
          <a:xfrm>
            <a:off x="667512" y="4636008"/>
            <a:ext cx="457200" cy="457200"/>
          </a:xfrm>
          <a:prstGeom prst="ellipse">
            <a:avLst/>
          </a:prstGeom>
          <a:solidFill>
            <a:srgbClr val="FFFFFF"/>
          </a:solidFill>
          <a:ln/>
        </p:spPr>
      </p:sp>
      <p:pic>
        <p:nvPicPr>
          <p:cNvPr id="22" name="Image 4" descr="icons/cube_navy.png">    </p:cNvPr>
          <p:cNvPicPr>
            <a:picLocks noChangeAspect="1"/>
          </p:cNvPicPr>
          <p:nvPr/>
        </p:nvPicPr>
        <p:blipFill>
          <a:blip r:embed="rId5"/>
          <a:stretch>
            <a:fillRect/>
          </a:stretch>
        </p:blipFill>
        <p:spPr>
          <a:xfrm>
            <a:off x="777240" y="4745736"/>
            <a:ext cx="237744" cy="237744"/>
          </a:xfrm>
          <a:prstGeom prst="rect">
            <a:avLst/>
          </a:prstGeom>
        </p:spPr>
      </p:pic>
      <p:sp>
        <p:nvSpPr>
          <p:cNvPr id="23" name="Shape 16"/>
          <p:cNvSpPr/>
          <p:nvPr/>
        </p:nvSpPr>
        <p:spPr>
          <a:xfrm>
            <a:off x="667512" y="4608576"/>
            <a:ext cx="5166360" cy="512064"/>
          </a:xfrm>
          <a:prstGeom prst="roundRect">
            <a:avLst>
              <a:gd name="adj" fmla="val 10714"/>
            </a:avLst>
          </a:prstGeom>
          <a:solidFill>
            <a:srgbClr val="FFFFFF"/>
          </a:solidFill>
          <a:ln w="12700">
            <a:solidFill>
              <a:srgbClr val="DCE6E8"/>
            </a:solidFill>
            <a:prstDash val="solid"/>
          </a:ln>
        </p:spPr>
      </p:sp>
      <p:sp>
        <p:nvSpPr>
          <p:cNvPr id="24" name="Shape 17"/>
          <p:cNvSpPr/>
          <p:nvPr/>
        </p:nvSpPr>
        <p:spPr>
          <a:xfrm>
            <a:off x="731520" y="4681728"/>
            <a:ext cx="365760" cy="365760"/>
          </a:xfrm>
          <a:prstGeom prst="ellipse">
            <a:avLst/>
          </a:prstGeom>
          <a:solidFill>
            <a:srgbClr val="E3F4F4"/>
          </a:solidFill>
          <a:ln/>
        </p:spPr>
      </p:sp>
      <p:pic>
        <p:nvPicPr>
          <p:cNvPr id="25" name="Image 5" descr="icons/cube_teal.png">    </p:cNvPr>
          <p:cNvPicPr>
            <a:picLocks noChangeAspect="1"/>
          </p:cNvPicPr>
          <p:nvPr/>
        </p:nvPicPr>
        <p:blipFill>
          <a:blip r:embed="rId6"/>
          <a:stretch>
            <a:fillRect/>
          </a:stretch>
        </p:blipFill>
        <p:spPr>
          <a:xfrm>
            <a:off x="819302" y="4769510"/>
            <a:ext cx="190195" cy="190195"/>
          </a:xfrm>
          <a:prstGeom prst="rect">
            <a:avLst/>
          </a:prstGeom>
        </p:spPr>
      </p:pic>
      <p:sp>
        <p:nvSpPr>
          <p:cNvPr id="26" name="Text 18"/>
          <p:cNvSpPr/>
          <p:nvPr/>
        </p:nvSpPr>
        <p:spPr>
          <a:xfrm>
            <a:off x="1234440" y="4608576"/>
            <a:ext cx="4480560" cy="512064"/>
          </a:xfrm>
          <a:prstGeom prst="rect">
            <a:avLst/>
          </a:prstGeom>
          <a:noFill/>
          <a:ln/>
        </p:spPr>
        <p:txBody>
          <a:bodyPr wrap="square" rtlCol="0" anchor="ctr"/>
          <a:lstStyle/>
          <a:p>
            <a:pPr indent="0" marL="0">
              <a:buNone/>
            </a:pPr>
            <a:r>
              <a:rPr lang="en-US" sz="1200" b="1" dirty="0">
                <a:solidFill>
                  <a:srgbClr val="16283A"/>
                </a:solidFill>
                <a:latin typeface="Calibri" pitchFamily="34" charset="0"/>
                <a:ea typeface="Calibri" pitchFamily="34" charset="-122"/>
                <a:cs typeface="Calibri" pitchFamily="34" charset="-120"/>
              </a:rPr>
              <a:t>Extract AP / ML dimensions</a:t>
            </a:r>
            <a:endParaRPr lang="en-US" sz="1200" dirty="0"/>
          </a:p>
        </p:txBody>
      </p:sp>
      <p:sp>
        <p:nvSpPr>
          <p:cNvPr id="27" name="Shape 19"/>
          <p:cNvSpPr/>
          <p:nvPr/>
        </p:nvSpPr>
        <p:spPr>
          <a:xfrm>
            <a:off x="1097280" y="5120640"/>
            <a:ext cx="0" cy="91440"/>
          </a:xfrm>
          <a:prstGeom prst="line">
            <a:avLst/>
          </a:prstGeom>
          <a:noFill/>
          <a:ln w="19050">
            <a:solidFill>
              <a:srgbClr val="1B98A0"/>
            </a:solidFill>
            <a:prstDash val="solid"/>
          </a:ln>
        </p:spPr>
      </p:sp>
      <p:sp>
        <p:nvSpPr>
          <p:cNvPr id="28" name="Shape 20"/>
          <p:cNvSpPr/>
          <p:nvPr/>
        </p:nvSpPr>
        <p:spPr>
          <a:xfrm>
            <a:off x="667512" y="5239512"/>
            <a:ext cx="457200" cy="457200"/>
          </a:xfrm>
          <a:prstGeom prst="ellipse">
            <a:avLst/>
          </a:prstGeom>
          <a:solidFill>
            <a:srgbClr val="FFFFFF"/>
          </a:solidFill>
          <a:ln/>
        </p:spPr>
      </p:sp>
      <p:pic>
        <p:nvPicPr>
          <p:cNvPr id="29" name="Image 6" descr="icons/database_navy.png">    </p:cNvPr>
          <p:cNvPicPr>
            <a:picLocks noChangeAspect="1"/>
          </p:cNvPicPr>
          <p:nvPr/>
        </p:nvPicPr>
        <p:blipFill>
          <a:blip r:embed="rId7"/>
          <a:stretch>
            <a:fillRect/>
          </a:stretch>
        </p:blipFill>
        <p:spPr>
          <a:xfrm>
            <a:off x="777240" y="5349240"/>
            <a:ext cx="237744" cy="237744"/>
          </a:xfrm>
          <a:prstGeom prst="rect">
            <a:avLst/>
          </a:prstGeom>
        </p:spPr>
      </p:pic>
      <p:sp>
        <p:nvSpPr>
          <p:cNvPr id="30" name="Shape 21"/>
          <p:cNvSpPr/>
          <p:nvPr/>
        </p:nvSpPr>
        <p:spPr>
          <a:xfrm>
            <a:off x="667512" y="5212080"/>
            <a:ext cx="5166360" cy="512064"/>
          </a:xfrm>
          <a:prstGeom prst="roundRect">
            <a:avLst>
              <a:gd name="adj" fmla="val 10714"/>
            </a:avLst>
          </a:prstGeom>
          <a:solidFill>
            <a:srgbClr val="FFFFFF"/>
          </a:solidFill>
          <a:ln w="12700">
            <a:solidFill>
              <a:srgbClr val="DCE6E8"/>
            </a:solidFill>
            <a:prstDash val="solid"/>
          </a:ln>
        </p:spPr>
      </p:sp>
      <p:sp>
        <p:nvSpPr>
          <p:cNvPr id="31" name="Shape 22"/>
          <p:cNvSpPr/>
          <p:nvPr/>
        </p:nvSpPr>
        <p:spPr>
          <a:xfrm>
            <a:off x="731520" y="5285232"/>
            <a:ext cx="365760" cy="365760"/>
          </a:xfrm>
          <a:prstGeom prst="ellipse">
            <a:avLst/>
          </a:prstGeom>
          <a:solidFill>
            <a:srgbClr val="E3F4F4"/>
          </a:solidFill>
          <a:ln/>
        </p:spPr>
      </p:sp>
      <p:pic>
        <p:nvPicPr>
          <p:cNvPr id="32" name="Image 7" descr="icons/database_teal.png">    </p:cNvPr>
          <p:cNvPicPr>
            <a:picLocks noChangeAspect="1"/>
          </p:cNvPicPr>
          <p:nvPr/>
        </p:nvPicPr>
        <p:blipFill>
          <a:blip r:embed="rId8"/>
          <a:stretch>
            <a:fillRect/>
          </a:stretch>
        </p:blipFill>
        <p:spPr>
          <a:xfrm>
            <a:off x="819302" y="5373014"/>
            <a:ext cx="190195" cy="190195"/>
          </a:xfrm>
          <a:prstGeom prst="rect">
            <a:avLst/>
          </a:prstGeom>
        </p:spPr>
      </p:pic>
      <p:sp>
        <p:nvSpPr>
          <p:cNvPr id="33" name="Text 23"/>
          <p:cNvSpPr/>
          <p:nvPr/>
        </p:nvSpPr>
        <p:spPr>
          <a:xfrm>
            <a:off x="1234440" y="5212080"/>
            <a:ext cx="4480560" cy="512064"/>
          </a:xfrm>
          <a:prstGeom prst="rect">
            <a:avLst/>
          </a:prstGeom>
          <a:noFill/>
          <a:ln/>
        </p:spPr>
        <p:txBody>
          <a:bodyPr wrap="square" rtlCol="0" anchor="ctr"/>
          <a:lstStyle/>
          <a:p>
            <a:pPr indent="0" marL="0">
              <a:buNone/>
            </a:pPr>
            <a:r>
              <a:rPr lang="en-US" sz="1200" b="1" dirty="0">
                <a:solidFill>
                  <a:srgbClr val="16283A"/>
                </a:solidFill>
                <a:latin typeface="Calibri" pitchFamily="34" charset="0"/>
                <a:ea typeface="Calibri" pitchFamily="34" charset="-122"/>
                <a:cs typeface="Calibri" pitchFamily="34" charset="-120"/>
              </a:rPr>
              <a:t>Compare to implant database</a:t>
            </a:r>
            <a:endParaRPr lang="en-US" sz="1200" dirty="0"/>
          </a:p>
        </p:txBody>
      </p:sp>
      <p:sp>
        <p:nvSpPr>
          <p:cNvPr id="34" name="Shape 24"/>
          <p:cNvSpPr/>
          <p:nvPr/>
        </p:nvSpPr>
        <p:spPr>
          <a:xfrm>
            <a:off x="1097280" y="5724144"/>
            <a:ext cx="0" cy="91440"/>
          </a:xfrm>
          <a:prstGeom prst="line">
            <a:avLst/>
          </a:prstGeom>
          <a:noFill/>
          <a:ln w="19050">
            <a:solidFill>
              <a:srgbClr val="1B98A0"/>
            </a:solidFill>
            <a:prstDash val="solid"/>
          </a:ln>
        </p:spPr>
      </p:sp>
      <p:sp>
        <p:nvSpPr>
          <p:cNvPr id="35" name="Shape 25"/>
          <p:cNvSpPr/>
          <p:nvPr/>
        </p:nvSpPr>
        <p:spPr>
          <a:xfrm>
            <a:off x="667512" y="5843016"/>
            <a:ext cx="457200" cy="457200"/>
          </a:xfrm>
          <a:prstGeom prst="ellipse">
            <a:avLst/>
          </a:prstGeom>
          <a:solidFill>
            <a:srgbClr val="FFFFFF"/>
          </a:solidFill>
          <a:ln/>
        </p:spPr>
      </p:sp>
      <p:pic>
        <p:nvPicPr>
          <p:cNvPr id="36" name="Image 8" descr="icons/check_navy.png">    </p:cNvPr>
          <p:cNvPicPr>
            <a:picLocks noChangeAspect="1"/>
          </p:cNvPicPr>
          <p:nvPr/>
        </p:nvPicPr>
        <p:blipFill>
          <a:blip r:embed="rId9"/>
          <a:stretch>
            <a:fillRect/>
          </a:stretch>
        </p:blipFill>
        <p:spPr>
          <a:xfrm>
            <a:off x="777240" y="5952744"/>
            <a:ext cx="237744" cy="237744"/>
          </a:xfrm>
          <a:prstGeom prst="rect">
            <a:avLst/>
          </a:prstGeom>
        </p:spPr>
      </p:pic>
      <p:sp>
        <p:nvSpPr>
          <p:cNvPr id="37" name="Shape 26"/>
          <p:cNvSpPr/>
          <p:nvPr/>
        </p:nvSpPr>
        <p:spPr>
          <a:xfrm>
            <a:off x="667512" y="5815584"/>
            <a:ext cx="5166360" cy="512064"/>
          </a:xfrm>
          <a:prstGeom prst="roundRect">
            <a:avLst>
              <a:gd name="adj" fmla="val 10714"/>
            </a:avLst>
          </a:prstGeom>
          <a:solidFill>
            <a:srgbClr val="FFFFFF"/>
          </a:solidFill>
          <a:ln w="12700">
            <a:solidFill>
              <a:srgbClr val="DCE6E8"/>
            </a:solidFill>
            <a:prstDash val="solid"/>
          </a:ln>
        </p:spPr>
      </p:sp>
      <p:sp>
        <p:nvSpPr>
          <p:cNvPr id="38" name="Shape 27"/>
          <p:cNvSpPr/>
          <p:nvPr/>
        </p:nvSpPr>
        <p:spPr>
          <a:xfrm>
            <a:off x="731520" y="5888736"/>
            <a:ext cx="365760" cy="365760"/>
          </a:xfrm>
          <a:prstGeom prst="ellipse">
            <a:avLst/>
          </a:prstGeom>
          <a:solidFill>
            <a:srgbClr val="E3F4F4"/>
          </a:solidFill>
          <a:ln/>
        </p:spPr>
      </p:sp>
      <p:pic>
        <p:nvPicPr>
          <p:cNvPr id="39" name="Image 9" descr="icons/check_teal.png">    </p:cNvPr>
          <p:cNvPicPr>
            <a:picLocks noChangeAspect="1"/>
          </p:cNvPicPr>
          <p:nvPr/>
        </p:nvPicPr>
        <p:blipFill>
          <a:blip r:embed="rId10"/>
          <a:stretch>
            <a:fillRect/>
          </a:stretch>
        </p:blipFill>
        <p:spPr>
          <a:xfrm>
            <a:off x="819302" y="5976518"/>
            <a:ext cx="190195" cy="190195"/>
          </a:xfrm>
          <a:prstGeom prst="rect">
            <a:avLst/>
          </a:prstGeom>
        </p:spPr>
      </p:pic>
      <p:sp>
        <p:nvSpPr>
          <p:cNvPr id="40" name="Text 28"/>
          <p:cNvSpPr/>
          <p:nvPr/>
        </p:nvSpPr>
        <p:spPr>
          <a:xfrm>
            <a:off x="1234440" y="5815584"/>
            <a:ext cx="4480560" cy="512064"/>
          </a:xfrm>
          <a:prstGeom prst="rect">
            <a:avLst/>
          </a:prstGeom>
          <a:noFill/>
          <a:ln/>
        </p:spPr>
        <p:txBody>
          <a:bodyPr wrap="square" rtlCol="0" anchor="ctr"/>
          <a:lstStyle/>
          <a:p>
            <a:pPr indent="0" marL="0">
              <a:buNone/>
            </a:pPr>
            <a:r>
              <a:rPr lang="en-US" sz="1200" b="1" dirty="0">
                <a:solidFill>
                  <a:srgbClr val="16283A"/>
                </a:solidFill>
                <a:latin typeface="Calibri" pitchFamily="34" charset="0"/>
                <a:ea typeface="Calibri" pitchFamily="34" charset="-122"/>
                <a:cs typeface="Calibri" pitchFamily="34" charset="-120"/>
              </a:rPr>
              <a:t>Ranked implant size options</a:t>
            </a:r>
            <a:endParaRPr lang="en-US" sz="1200" dirty="0"/>
          </a:p>
        </p:txBody>
      </p:sp>
      <p:sp>
        <p:nvSpPr>
          <p:cNvPr id="41" name="Shape 29"/>
          <p:cNvSpPr/>
          <p:nvPr/>
        </p:nvSpPr>
        <p:spPr>
          <a:xfrm>
            <a:off x="6355080" y="1554480"/>
            <a:ext cx="5257800" cy="4892040"/>
          </a:xfrm>
          <a:prstGeom prst="roundRect">
            <a:avLst>
              <a:gd name="adj" fmla="val 2243"/>
            </a:avLst>
          </a:prstGeom>
          <a:solidFill>
            <a:srgbClr val="0B2E4F"/>
          </a:solidFill>
          <a:ln/>
        </p:spPr>
      </p:sp>
      <p:sp>
        <p:nvSpPr>
          <p:cNvPr id="42" name="Shape 30"/>
          <p:cNvSpPr/>
          <p:nvPr/>
        </p:nvSpPr>
        <p:spPr>
          <a:xfrm>
            <a:off x="6355080" y="1554480"/>
            <a:ext cx="5257800" cy="548640"/>
          </a:xfrm>
          <a:prstGeom prst="roundRect">
            <a:avLst>
              <a:gd name="adj" fmla="val 20000"/>
            </a:avLst>
          </a:prstGeom>
          <a:solidFill>
            <a:srgbClr val="081F38"/>
          </a:solidFill>
          <a:ln/>
        </p:spPr>
      </p:sp>
      <p:pic>
        <p:nvPicPr>
          <p:cNvPr id="43" name="Image 10" descr="icons/puzzle_teal.png">    </p:cNvPr>
          <p:cNvPicPr>
            <a:picLocks noChangeAspect="1"/>
          </p:cNvPicPr>
          <p:nvPr/>
        </p:nvPicPr>
        <p:blipFill>
          <a:blip r:embed="rId11"/>
          <a:stretch>
            <a:fillRect/>
          </a:stretch>
        </p:blipFill>
        <p:spPr>
          <a:xfrm>
            <a:off x="6583680" y="1691640"/>
            <a:ext cx="274320" cy="274320"/>
          </a:xfrm>
          <a:prstGeom prst="rect">
            <a:avLst/>
          </a:prstGeom>
        </p:spPr>
      </p:pic>
      <p:sp>
        <p:nvSpPr>
          <p:cNvPr id="44" name="Text 31"/>
          <p:cNvSpPr/>
          <p:nvPr/>
        </p:nvSpPr>
        <p:spPr>
          <a:xfrm>
            <a:off x="6949440" y="1554480"/>
            <a:ext cx="429768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MEDI-SIZE AI  ·  Sizing Report</a:t>
            </a:r>
            <a:endParaRPr lang="en-US" sz="1300" dirty="0"/>
          </a:p>
        </p:txBody>
      </p:sp>
      <p:sp>
        <p:nvSpPr>
          <p:cNvPr id="45" name="Text 32"/>
          <p:cNvSpPr/>
          <p:nvPr/>
        </p:nvSpPr>
        <p:spPr>
          <a:xfrm>
            <a:off x="6629400" y="2286000"/>
            <a:ext cx="3657600" cy="256032"/>
          </a:xfrm>
          <a:prstGeom prst="rect">
            <a:avLst/>
          </a:prstGeom>
          <a:noFill/>
          <a:ln/>
        </p:spPr>
        <p:txBody>
          <a:bodyPr wrap="square" rtlCol="0" anchor="ctr"/>
          <a:lstStyle/>
          <a:p>
            <a:pPr indent="0" marL="0">
              <a:buNone/>
            </a:pPr>
            <a:r>
              <a:rPr lang="en-US" sz="1000" b="1" spc="150" kern="0" dirty="0">
                <a:solidFill>
                  <a:srgbClr val="6FD6DB"/>
                </a:solidFill>
                <a:latin typeface="Calibri" pitchFamily="34" charset="0"/>
                <a:ea typeface="Calibri" pitchFamily="34" charset="-122"/>
                <a:cs typeface="Calibri" pitchFamily="34" charset="-120"/>
              </a:rPr>
              <a:t>PATIENT-SPECIFIC SIZING</a:t>
            </a:r>
            <a:endParaRPr lang="en-US" sz="1000" dirty="0"/>
          </a:p>
        </p:txBody>
      </p:sp>
      <p:sp>
        <p:nvSpPr>
          <p:cNvPr id="46" name="Shape 33"/>
          <p:cNvSpPr/>
          <p:nvPr/>
        </p:nvSpPr>
        <p:spPr>
          <a:xfrm>
            <a:off x="6629400" y="2935224"/>
            <a:ext cx="4709160" cy="0"/>
          </a:xfrm>
          <a:prstGeom prst="line">
            <a:avLst/>
          </a:prstGeom>
          <a:noFill/>
          <a:ln w="9525">
            <a:solidFill>
              <a:srgbClr val="1E4E76"/>
            </a:solidFill>
            <a:prstDash val="solid"/>
          </a:ln>
        </p:spPr>
      </p:sp>
      <p:sp>
        <p:nvSpPr>
          <p:cNvPr id="47" name="Text 34"/>
          <p:cNvSpPr/>
          <p:nvPr/>
        </p:nvSpPr>
        <p:spPr>
          <a:xfrm>
            <a:off x="6629400" y="2606040"/>
            <a:ext cx="2926080" cy="329184"/>
          </a:xfrm>
          <a:prstGeom prst="rect">
            <a:avLst/>
          </a:prstGeom>
          <a:noFill/>
          <a:ln/>
        </p:spPr>
        <p:txBody>
          <a:bodyPr wrap="square" rtlCol="0" anchor="ctr"/>
          <a:lstStyle/>
          <a:p>
            <a:pPr indent="0" marL="0">
              <a:buNone/>
            </a:pPr>
            <a:r>
              <a:rPr lang="en-US" sz="1200" dirty="0">
                <a:solidFill>
                  <a:srgbClr val="C7D9E4"/>
                </a:solidFill>
                <a:latin typeface="Calibri" pitchFamily="34" charset="0"/>
                <a:ea typeface="Calibri" pitchFamily="34" charset="-122"/>
                <a:cs typeface="Calibri" pitchFamily="34" charset="-120"/>
              </a:rPr>
              <a:t>AP dimension</a:t>
            </a:r>
            <a:endParaRPr lang="en-US" sz="1200" dirty="0"/>
          </a:p>
        </p:txBody>
      </p:sp>
      <p:sp>
        <p:nvSpPr>
          <p:cNvPr id="48" name="Text 35"/>
          <p:cNvSpPr/>
          <p:nvPr/>
        </p:nvSpPr>
        <p:spPr>
          <a:xfrm>
            <a:off x="9509760" y="2606040"/>
            <a:ext cx="1828800" cy="329184"/>
          </a:xfrm>
          <a:prstGeom prst="rect">
            <a:avLst/>
          </a:prstGeom>
          <a:noFill/>
          <a:ln/>
        </p:spPr>
        <p:txBody>
          <a:bodyPr wrap="square"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58.4 mm</a:t>
            </a:r>
            <a:endParaRPr lang="en-US" sz="1250" dirty="0"/>
          </a:p>
        </p:txBody>
      </p:sp>
      <p:sp>
        <p:nvSpPr>
          <p:cNvPr id="49" name="Shape 36"/>
          <p:cNvSpPr/>
          <p:nvPr/>
        </p:nvSpPr>
        <p:spPr>
          <a:xfrm>
            <a:off x="6629400" y="3337560"/>
            <a:ext cx="4709160" cy="0"/>
          </a:xfrm>
          <a:prstGeom prst="line">
            <a:avLst/>
          </a:prstGeom>
          <a:noFill/>
          <a:ln w="9525">
            <a:solidFill>
              <a:srgbClr val="1E4E76"/>
            </a:solidFill>
            <a:prstDash val="solid"/>
          </a:ln>
        </p:spPr>
      </p:sp>
      <p:sp>
        <p:nvSpPr>
          <p:cNvPr id="50" name="Text 37"/>
          <p:cNvSpPr/>
          <p:nvPr/>
        </p:nvSpPr>
        <p:spPr>
          <a:xfrm>
            <a:off x="6629400" y="3008376"/>
            <a:ext cx="2926080" cy="329184"/>
          </a:xfrm>
          <a:prstGeom prst="rect">
            <a:avLst/>
          </a:prstGeom>
          <a:noFill/>
          <a:ln/>
        </p:spPr>
        <p:txBody>
          <a:bodyPr wrap="square" rtlCol="0" anchor="ctr"/>
          <a:lstStyle/>
          <a:p>
            <a:pPr indent="0" marL="0">
              <a:buNone/>
            </a:pPr>
            <a:r>
              <a:rPr lang="en-US" sz="1200" dirty="0">
                <a:solidFill>
                  <a:srgbClr val="C7D9E4"/>
                </a:solidFill>
                <a:latin typeface="Calibri" pitchFamily="34" charset="0"/>
                <a:ea typeface="Calibri" pitchFamily="34" charset="-122"/>
                <a:cs typeface="Calibri" pitchFamily="34" charset="-120"/>
              </a:rPr>
              <a:t>ML dimension</a:t>
            </a:r>
            <a:endParaRPr lang="en-US" sz="1200" dirty="0"/>
          </a:p>
        </p:txBody>
      </p:sp>
      <p:sp>
        <p:nvSpPr>
          <p:cNvPr id="51" name="Text 38"/>
          <p:cNvSpPr/>
          <p:nvPr/>
        </p:nvSpPr>
        <p:spPr>
          <a:xfrm>
            <a:off x="9509760" y="3008376"/>
            <a:ext cx="1828800" cy="329184"/>
          </a:xfrm>
          <a:prstGeom prst="rect">
            <a:avLst/>
          </a:prstGeom>
          <a:noFill/>
          <a:ln/>
        </p:spPr>
        <p:txBody>
          <a:bodyPr wrap="square"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64.1 mm</a:t>
            </a:r>
            <a:endParaRPr lang="en-US" sz="1250" dirty="0"/>
          </a:p>
        </p:txBody>
      </p:sp>
      <p:sp>
        <p:nvSpPr>
          <p:cNvPr id="52" name="Shape 39"/>
          <p:cNvSpPr/>
          <p:nvPr/>
        </p:nvSpPr>
        <p:spPr>
          <a:xfrm>
            <a:off x="6629400" y="3739896"/>
            <a:ext cx="4709160" cy="0"/>
          </a:xfrm>
          <a:prstGeom prst="line">
            <a:avLst/>
          </a:prstGeom>
          <a:noFill/>
          <a:ln w="9525">
            <a:solidFill>
              <a:srgbClr val="1E4E76"/>
            </a:solidFill>
            <a:prstDash val="solid"/>
          </a:ln>
        </p:spPr>
      </p:sp>
      <p:sp>
        <p:nvSpPr>
          <p:cNvPr id="53" name="Text 40"/>
          <p:cNvSpPr/>
          <p:nvPr/>
        </p:nvSpPr>
        <p:spPr>
          <a:xfrm>
            <a:off x="6629400" y="3410712"/>
            <a:ext cx="2926080" cy="329184"/>
          </a:xfrm>
          <a:prstGeom prst="rect">
            <a:avLst/>
          </a:prstGeom>
          <a:noFill/>
          <a:ln/>
        </p:spPr>
        <p:txBody>
          <a:bodyPr wrap="square" rtlCol="0" anchor="ctr"/>
          <a:lstStyle/>
          <a:p>
            <a:pPr indent="0" marL="0">
              <a:buNone/>
            </a:pPr>
            <a:r>
              <a:rPr lang="en-US" sz="1200" dirty="0">
                <a:solidFill>
                  <a:srgbClr val="C7D9E4"/>
                </a:solidFill>
                <a:latin typeface="Calibri" pitchFamily="34" charset="0"/>
                <a:ea typeface="Calibri" pitchFamily="34" charset="-122"/>
                <a:cs typeface="Calibri" pitchFamily="34" charset="-120"/>
              </a:rPr>
              <a:t>Thickness profile</a:t>
            </a:r>
            <a:endParaRPr lang="en-US" sz="1200" dirty="0"/>
          </a:p>
        </p:txBody>
      </p:sp>
      <p:sp>
        <p:nvSpPr>
          <p:cNvPr id="54" name="Text 41"/>
          <p:cNvSpPr/>
          <p:nvPr/>
        </p:nvSpPr>
        <p:spPr>
          <a:xfrm>
            <a:off x="9509760" y="3410712"/>
            <a:ext cx="1828800" cy="329184"/>
          </a:xfrm>
          <a:prstGeom prst="rect">
            <a:avLst/>
          </a:prstGeom>
          <a:noFill/>
          <a:ln/>
        </p:spPr>
        <p:txBody>
          <a:bodyPr wrap="square"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4.6 mm</a:t>
            </a:r>
            <a:endParaRPr lang="en-US" sz="1250" dirty="0"/>
          </a:p>
        </p:txBody>
      </p:sp>
      <p:sp>
        <p:nvSpPr>
          <p:cNvPr id="55" name="Shape 42"/>
          <p:cNvSpPr/>
          <p:nvPr/>
        </p:nvSpPr>
        <p:spPr>
          <a:xfrm>
            <a:off x="6629400" y="3977640"/>
            <a:ext cx="4709160" cy="960120"/>
          </a:xfrm>
          <a:prstGeom prst="roundRect">
            <a:avLst>
              <a:gd name="adj" fmla="val 9524"/>
            </a:avLst>
          </a:prstGeom>
          <a:solidFill>
            <a:srgbClr val="0E2740"/>
          </a:solidFill>
          <a:ln w="12700">
            <a:solidFill>
              <a:srgbClr val="1B98A0"/>
            </a:solidFill>
            <a:prstDash val="solid"/>
          </a:ln>
        </p:spPr>
      </p:sp>
      <p:sp>
        <p:nvSpPr>
          <p:cNvPr id="56" name="Text 43"/>
          <p:cNvSpPr/>
          <p:nvPr/>
        </p:nvSpPr>
        <p:spPr>
          <a:xfrm>
            <a:off x="6858000" y="4096512"/>
            <a:ext cx="2743200" cy="256032"/>
          </a:xfrm>
          <a:prstGeom prst="rect">
            <a:avLst/>
          </a:prstGeom>
          <a:noFill/>
          <a:ln/>
        </p:spPr>
        <p:txBody>
          <a:bodyPr wrap="square" rtlCol="0" anchor="ctr"/>
          <a:lstStyle/>
          <a:p>
            <a:pPr indent="0" marL="0">
              <a:buNone/>
            </a:pPr>
            <a:r>
              <a:rPr lang="en-US" sz="950" b="1" dirty="0">
                <a:solidFill>
                  <a:srgbClr val="8FB0C4"/>
                </a:solidFill>
                <a:latin typeface="Calibri" pitchFamily="34" charset="0"/>
                <a:ea typeface="Calibri" pitchFamily="34" charset="-122"/>
                <a:cs typeface="Calibri" pitchFamily="34" charset="-120"/>
              </a:rPr>
              <a:t>RECOMMENDED IMPLANT SIZE</a:t>
            </a:r>
            <a:endParaRPr lang="en-US" sz="950" dirty="0"/>
          </a:p>
        </p:txBody>
      </p:sp>
      <p:sp>
        <p:nvSpPr>
          <p:cNvPr id="57" name="Text 44"/>
          <p:cNvSpPr/>
          <p:nvPr/>
        </p:nvSpPr>
        <p:spPr>
          <a:xfrm>
            <a:off x="6858000" y="4315968"/>
            <a:ext cx="2011680" cy="548640"/>
          </a:xfrm>
          <a:prstGeom prst="rect">
            <a:avLst/>
          </a:prstGeom>
          <a:noFill/>
          <a:ln/>
        </p:spPr>
        <p:txBody>
          <a:bodyPr wrap="square" rtlCol="0" anchor="ctr"/>
          <a:lstStyle/>
          <a:p>
            <a:pPr indent="0" marL="0">
              <a:buNone/>
            </a:pPr>
            <a:r>
              <a:rPr lang="en-US" sz="2600" b="1" dirty="0">
                <a:solidFill>
                  <a:srgbClr val="1B98A0"/>
                </a:solidFill>
                <a:latin typeface="Cambria" pitchFamily="34" charset="0"/>
                <a:ea typeface="Cambria" pitchFamily="34" charset="-122"/>
                <a:cs typeface="Cambria" pitchFamily="34" charset="-120"/>
              </a:rPr>
              <a:t>Size M</a:t>
            </a:r>
            <a:endParaRPr lang="en-US" sz="2600" dirty="0"/>
          </a:p>
        </p:txBody>
      </p:sp>
      <p:sp>
        <p:nvSpPr>
          <p:cNvPr id="58" name="Text 45"/>
          <p:cNvSpPr/>
          <p:nvPr/>
        </p:nvSpPr>
        <p:spPr>
          <a:xfrm>
            <a:off x="9144000" y="4160520"/>
            <a:ext cx="1097280" cy="228600"/>
          </a:xfrm>
          <a:prstGeom prst="rect">
            <a:avLst/>
          </a:prstGeom>
          <a:noFill/>
          <a:ln/>
        </p:spPr>
        <p:txBody>
          <a:bodyPr wrap="square" rtlCol="0" anchor="ctr"/>
          <a:lstStyle/>
          <a:p>
            <a:pPr algn="r" indent="0" marL="0">
              <a:buNone/>
            </a:pPr>
            <a:r>
              <a:rPr lang="en-US" sz="950" dirty="0">
                <a:solidFill>
                  <a:srgbClr val="8FB0C4"/>
                </a:solidFill>
                <a:latin typeface="Calibri" pitchFamily="34" charset="0"/>
                <a:ea typeface="Calibri" pitchFamily="34" charset="-122"/>
                <a:cs typeface="Calibri" pitchFamily="34" charset="-120"/>
              </a:rPr>
              <a:t>Confidence</a:t>
            </a:r>
            <a:endParaRPr lang="en-US" sz="950" dirty="0"/>
          </a:p>
        </p:txBody>
      </p:sp>
      <p:sp>
        <p:nvSpPr>
          <p:cNvPr id="59" name="Text 46"/>
          <p:cNvSpPr/>
          <p:nvPr/>
        </p:nvSpPr>
        <p:spPr>
          <a:xfrm>
            <a:off x="9144000" y="4370832"/>
            <a:ext cx="1097280" cy="457200"/>
          </a:xfrm>
          <a:prstGeom prst="rect">
            <a:avLst/>
          </a:prstGeom>
          <a:noFill/>
          <a:ln/>
        </p:spPr>
        <p:txBody>
          <a:bodyPr wrap="square" rtlCol="0" anchor="ctr"/>
          <a:lstStyle/>
          <a:p>
            <a:pPr algn="r" indent="0" marL="0">
              <a:buNone/>
            </a:pPr>
            <a:r>
              <a:rPr lang="en-US" sz="2200" b="1" dirty="0">
                <a:solidFill>
                  <a:srgbClr val="FFFFFF"/>
                </a:solidFill>
                <a:latin typeface="Cambria" pitchFamily="34" charset="0"/>
                <a:ea typeface="Cambria" pitchFamily="34" charset="-122"/>
                <a:cs typeface="Cambria" pitchFamily="34" charset="-120"/>
              </a:rPr>
              <a:t>92%</a:t>
            </a:r>
            <a:endParaRPr lang="en-US" sz="2200" dirty="0"/>
          </a:p>
        </p:txBody>
      </p:sp>
      <p:sp>
        <p:nvSpPr>
          <p:cNvPr id="60" name="Text 47"/>
          <p:cNvSpPr/>
          <p:nvPr/>
        </p:nvSpPr>
        <p:spPr>
          <a:xfrm>
            <a:off x="6629400" y="5074920"/>
            <a:ext cx="4114800" cy="256032"/>
          </a:xfrm>
          <a:prstGeom prst="rect">
            <a:avLst/>
          </a:prstGeom>
          <a:noFill/>
          <a:ln/>
        </p:spPr>
        <p:txBody>
          <a:bodyPr wrap="square" rtlCol="0" anchor="ctr"/>
          <a:lstStyle/>
          <a:p>
            <a:pPr indent="0" marL="0">
              <a:buNone/>
            </a:pPr>
            <a:r>
              <a:rPr lang="en-US" sz="1000" b="1" spc="100" kern="0" dirty="0">
                <a:solidFill>
                  <a:srgbClr val="6FD6DB"/>
                </a:solidFill>
                <a:latin typeface="Calibri" pitchFamily="34" charset="0"/>
                <a:ea typeface="Calibri" pitchFamily="34" charset="-122"/>
                <a:cs typeface="Calibri" pitchFamily="34" charset="-120"/>
              </a:rPr>
              <a:t>WHY THIS RECOMMENDATION</a:t>
            </a:r>
            <a:endParaRPr lang="en-US" sz="1000" dirty="0"/>
          </a:p>
        </p:txBody>
      </p:sp>
      <p:pic>
        <p:nvPicPr>
          <p:cNvPr id="61" name="Image 11" descr="icons/check_teal.png">    </p:cNvPr>
          <p:cNvPicPr>
            <a:picLocks noChangeAspect="1"/>
          </p:cNvPicPr>
          <p:nvPr/>
        </p:nvPicPr>
        <p:blipFill>
          <a:blip r:embed="rId12"/>
          <a:stretch>
            <a:fillRect/>
          </a:stretch>
        </p:blipFill>
        <p:spPr>
          <a:xfrm>
            <a:off x="6629400" y="5394960"/>
            <a:ext cx="201168" cy="201168"/>
          </a:xfrm>
          <a:prstGeom prst="rect">
            <a:avLst/>
          </a:prstGeom>
        </p:spPr>
      </p:pic>
      <p:sp>
        <p:nvSpPr>
          <p:cNvPr id="62" name="Text 48"/>
          <p:cNvSpPr/>
          <p:nvPr/>
        </p:nvSpPr>
        <p:spPr>
          <a:xfrm>
            <a:off x="6903720" y="5376672"/>
            <a:ext cx="4480560" cy="292608"/>
          </a:xfrm>
          <a:prstGeom prst="rect">
            <a:avLst/>
          </a:prstGeom>
          <a:noFill/>
          <a:ln/>
        </p:spPr>
        <p:txBody>
          <a:bodyPr wrap="square" rtlCol="0" anchor="ctr"/>
          <a:lstStyle/>
          <a:p>
            <a:pPr indent="0" marL="0">
              <a:buNone/>
            </a:pPr>
            <a:r>
              <a:rPr lang="en-US" sz="1050" dirty="0">
                <a:solidFill>
                  <a:srgbClr val="DCE9F1"/>
                </a:solidFill>
                <a:latin typeface="Calibri" pitchFamily="34" charset="0"/>
                <a:ea typeface="Calibri" pitchFamily="34" charset="-122"/>
                <a:cs typeface="Calibri" pitchFamily="34" charset="-120"/>
              </a:rPr>
              <a:t>Anatomical dimensions matched to implant curve</a:t>
            </a:r>
            <a:endParaRPr lang="en-US" sz="1050" dirty="0"/>
          </a:p>
        </p:txBody>
      </p:sp>
      <p:pic>
        <p:nvPicPr>
          <p:cNvPr id="63" name="Image 12" descr="icons/check_teal.png">    </p:cNvPr>
          <p:cNvPicPr>
            <a:picLocks noChangeAspect="1"/>
          </p:cNvPicPr>
          <p:nvPr/>
        </p:nvPicPr>
        <p:blipFill>
          <a:blip r:embed="rId13"/>
          <a:stretch>
            <a:fillRect/>
          </a:stretch>
        </p:blipFill>
        <p:spPr>
          <a:xfrm>
            <a:off x="6629400" y="5715000"/>
            <a:ext cx="201168" cy="201168"/>
          </a:xfrm>
          <a:prstGeom prst="rect">
            <a:avLst/>
          </a:prstGeom>
        </p:spPr>
      </p:pic>
      <p:sp>
        <p:nvSpPr>
          <p:cNvPr id="64" name="Text 49"/>
          <p:cNvSpPr/>
          <p:nvPr/>
        </p:nvSpPr>
        <p:spPr>
          <a:xfrm>
            <a:off x="6903720" y="5696712"/>
            <a:ext cx="4480560" cy="292608"/>
          </a:xfrm>
          <a:prstGeom prst="rect">
            <a:avLst/>
          </a:prstGeom>
          <a:noFill/>
          <a:ln/>
        </p:spPr>
        <p:txBody>
          <a:bodyPr wrap="square" rtlCol="0" anchor="ctr"/>
          <a:lstStyle/>
          <a:p>
            <a:pPr indent="0" marL="0">
              <a:buNone/>
            </a:pPr>
            <a:r>
              <a:rPr lang="en-US" sz="1050" dirty="0">
                <a:solidFill>
                  <a:srgbClr val="DCE9F1"/>
                </a:solidFill>
                <a:latin typeface="Calibri" pitchFamily="34" charset="0"/>
                <a:ea typeface="Calibri" pitchFamily="34" charset="-122"/>
                <a:cs typeface="Calibri" pitchFamily="34" charset="-120"/>
              </a:rPr>
              <a:t>Thickness profile within sizing range</a:t>
            </a:r>
            <a:endParaRPr lang="en-US" sz="1050" dirty="0"/>
          </a:p>
        </p:txBody>
      </p:sp>
      <p:pic>
        <p:nvPicPr>
          <p:cNvPr id="65" name="Image 13" descr="icons/check_teal.png">    </p:cNvPr>
          <p:cNvPicPr>
            <a:picLocks noChangeAspect="1"/>
          </p:cNvPicPr>
          <p:nvPr/>
        </p:nvPicPr>
        <p:blipFill>
          <a:blip r:embed="rId14"/>
          <a:stretch>
            <a:fillRect/>
          </a:stretch>
        </p:blipFill>
        <p:spPr>
          <a:xfrm>
            <a:off x="6629400" y="6035040"/>
            <a:ext cx="201168" cy="201168"/>
          </a:xfrm>
          <a:prstGeom prst="rect">
            <a:avLst/>
          </a:prstGeom>
        </p:spPr>
      </p:pic>
      <p:sp>
        <p:nvSpPr>
          <p:cNvPr id="66" name="Text 50"/>
          <p:cNvSpPr/>
          <p:nvPr/>
        </p:nvSpPr>
        <p:spPr>
          <a:xfrm>
            <a:off x="6903720" y="6016752"/>
            <a:ext cx="4480560" cy="292608"/>
          </a:xfrm>
          <a:prstGeom prst="rect">
            <a:avLst/>
          </a:prstGeom>
          <a:noFill/>
          <a:ln/>
        </p:spPr>
        <p:txBody>
          <a:bodyPr wrap="square" rtlCol="0" anchor="ctr"/>
          <a:lstStyle/>
          <a:p>
            <a:pPr indent="0" marL="0">
              <a:buNone/>
            </a:pPr>
            <a:r>
              <a:rPr lang="en-US" sz="1050" dirty="0">
                <a:solidFill>
                  <a:srgbClr val="DCE9F1"/>
                </a:solidFill>
                <a:latin typeface="Calibri" pitchFamily="34" charset="0"/>
                <a:ea typeface="Calibri" pitchFamily="34" charset="-122"/>
                <a:cs typeface="Calibri" pitchFamily="34" charset="-120"/>
              </a:rPr>
              <a:t>Geometry compatibility: High</a:t>
            </a:r>
            <a:endParaRPr lang="en-US" sz="1050" dirty="0"/>
          </a:p>
        </p:txBody>
      </p:sp>
      <p:sp>
        <p:nvSpPr>
          <p:cNvPr id="67" name="Text 51"/>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AA7B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3707A"/>
                </a:solidFill>
                <a:latin typeface="Calibri" pitchFamily="34" charset="0"/>
                <a:ea typeface="Calibri" pitchFamily="34" charset="-122"/>
                <a:cs typeface="Calibri" pitchFamily="34" charset="-120"/>
              </a:rPr>
              <a:t>END-TO-END PIPELINE</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0B2E4F"/>
                </a:solidFill>
                <a:latin typeface="Cambria" pitchFamily="34" charset="0"/>
                <a:ea typeface="Cambria" pitchFamily="34" charset="-122"/>
                <a:cs typeface="Cambria" pitchFamily="34" charset="-120"/>
              </a:rPr>
              <a:t>Detailed Workflow: From Imaging to Clinical Report</a:t>
            </a:r>
            <a:endParaRPr lang="en-US" sz="2700" dirty="0"/>
          </a:p>
        </p:txBody>
      </p:sp>
      <p:sp>
        <p:nvSpPr>
          <p:cNvPr id="4" name="Shape 2"/>
          <p:cNvSpPr/>
          <p:nvPr/>
        </p:nvSpPr>
        <p:spPr>
          <a:xfrm>
            <a:off x="548640" y="2331720"/>
            <a:ext cx="1828800" cy="1965960"/>
          </a:xfrm>
          <a:prstGeom prst="roundRect">
            <a:avLst>
              <a:gd name="adj" fmla="val 5000"/>
            </a:avLst>
          </a:prstGeom>
          <a:solidFill>
            <a:srgbClr val="F4F8F9"/>
          </a:solidFill>
          <a:ln w="12700">
            <a:solidFill>
              <a:srgbClr val="DCE6E8"/>
            </a:solidFill>
            <a:prstDash val="solid"/>
          </a:ln>
        </p:spPr>
      </p:sp>
      <p:sp>
        <p:nvSpPr>
          <p:cNvPr id="5" name="Shape 3"/>
          <p:cNvSpPr/>
          <p:nvPr/>
        </p:nvSpPr>
        <p:spPr>
          <a:xfrm>
            <a:off x="1120140" y="2555748"/>
            <a:ext cx="685800" cy="685800"/>
          </a:xfrm>
          <a:prstGeom prst="ellipse">
            <a:avLst/>
          </a:prstGeom>
          <a:solidFill>
            <a:srgbClr val="E3F4F4"/>
          </a:solidFill>
          <a:ln/>
        </p:spPr>
      </p:sp>
      <p:pic>
        <p:nvPicPr>
          <p:cNvPr id="6" name="Image 0" descr="icons/scan_teal.png">    </p:cNvPr>
          <p:cNvPicPr>
            <a:picLocks noChangeAspect="1"/>
          </p:cNvPicPr>
          <p:nvPr/>
        </p:nvPicPr>
        <p:blipFill>
          <a:blip r:embed="rId1"/>
          <a:stretch>
            <a:fillRect/>
          </a:stretch>
        </p:blipFill>
        <p:spPr>
          <a:xfrm>
            <a:off x="1284732" y="2720340"/>
            <a:ext cx="356616" cy="356616"/>
          </a:xfrm>
          <a:prstGeom prst="rect">
            <a:avLst/>
          </a:prstGeom>
        </p:spPr>
      </p:pic>
      <p:sp>
        <p:nvSpPr>
          <p:cNvPr id="7" name="Text 4"/>
          <p:cNvSpPr/>
          <p:nvPr/>
        </p:nvSpPr>
        <p:spPr>
          <a:xfrm>
            <a:off x="658368" y="2404872"/>
            <a:ext cx="548640" cy="274320"/>
          </a:xfrm>
          <a:prstGeom prst="rect">
            <a:avLst/>
          </a:prstGeom>
          <a:noFill/>
          <a:ln/>
        </p:spPr>
        <p:txBody>
          <a:bodyPr wrap="square" rtlCol="0" anchor="ctr"/>
          <a:lstStyle/>
          <a:p>
            <a:pPr indent="0" marL="0">
              <a:buNone/>
            </a:pPr>
            <a:r>
              <a:rPr lang="en-US" sz="1100" b="1" dirty="0">
                <a:solidFill>
                  <a:srgbClr val="13707A"/>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658368" y="3355848"/>
            <a:ext cx="1609344" cy="502920"/>
          </a:xfrm>
          <a:prstGeom prst="rect">
            <a:avLst/>
          </a:prstGeom>
          <a:noFill/>
          <a:ln/>
        </p:spPr>
        <p:txBody>
          <a:bodyPr wrap="square" rtlCol="0" anchor="ctr"/>
          <a:lstStyle/>
          <a:p>
            <a:pPr algn="ctr" indent="0" marL="0">
              <a:lnSpc>
                <a:spcPts val="1500"/>
              </a:lnSpc>
              <a:buNone/>
            </a:pPr>
            <a:r>
              <a:rPr lang="en-US" sz="1250" b="1" dirty="0">
                <a:solidFill>
                  <a:srgbClr val="16283A"/>
                </a:solidFill>
                <a:latin typeface="Calibri" pitchFamily="34" charset="0"/>
                <a:ea typeface="Calibri" pitchFamily="34" charset="-122"/>
                <a:cs typeface="Calibri" pitchFamily="34" charset="-120"/>
              </a:rPr>
              <a:t>Patient MRI Case</a:t>
            </a:r>
            <a:endParaRPr lang="en-US" sz="1250" dirty="0"/>
          </a:p>
        </p:txBody>
      </p:sp>
      <p:sp>
        <p:nvSpPr>
          <p:cNvPr id="9" name="Text 6"/>
          <p:cNvSpPr/>
          <p:nvPr/>
        </p:nvSpPr>
        <p:spPr>
          <a:xfrm>
            <a:off x="658368" y="3794760"/>
            <a:ext cx="1609344" cy="457200"/>
          </a:xfrm>
          <a:prstGeom prst="rect">
            <a:avLst/>
          </a:prstGeom>
          <a:noFill/>
          <a:ln/>
        </p:spPr>
        <p:txBody>
          <a:bodyPr wrap="square" rtlCol="0" anchor="ctr"/>
          <a:lstStyle/>
          <a:p>
            <a:pPr algn="ctr" indent="0" marL="0">
              <a:lnSpc>
                <a:spcPts val="1200"/>
              </a:lnSpc>
              <a:buNone/>
            </a:pPr>
            <a:r>
              <a:rPr lang="en-US" sz="950" dirty="0">
                <a:solidFill>
                  <a:srgbClr val="5B6B7A"/>
                </a:solidFill>
                <a:latin typeface="Calibri" pitchFamily="34" charset="0"/>
                <a:ea typeface="Calibri" pitchFamily="34" charset="-122"/>
                <a:cs typeface="Calibri" pitchFamily="34" charset="-120"/>
              </a:rPr>
              <a:t>3D DESS knee imaging input</a:t>
            </a:r>
            <a:endParaRPr lang="en-US" sz="950" dirty="0"/>
          </a:p>
        </p:txBody>
      </p:sp>
      <p:pic>
        <p:nvPicPr>
          <p:cNvPr id="10" name="Image 1" descr="icons/arrowright_teal.png">    </p:cNvPr>
          <p:cNvPicPr>
            <a:picLocks noChangeAspect="1"/>
          </p:cNvPicPr>
          <p:nvPr/>
        </p:nvPicPr>
        <p:blipFill>
          <a:blip r:embed="rId2"/>
          <a:stretch>
            <a:fillRect/>
          </a:stretch>
        </p:blipFill>
        <p:spPr>
          <a:xfrm>
            <a:off x="2459736" y="3195828"/>
            <a:ext cx="237744" cy="237744"/>
          </a:xfrm>
          <a:prstGeom prst="rect">
            <a:avLst/>
          </a:prstGeom>
        </p:spPr>
      </p:pic>
      <p:sp>
        <p:nvSpPr>
          <p:cNvPr id="11" name="Shape 7"/>
          <p:cNvSpPr/>
          <p:nvPr/>
        </p:nvSpPr>
        <p:spPr>
          <a:xfrm>
            <a:off x="2761488" y="2331720"/>
            <a:ext cx="1828800" cy="1965960"/>
          </a:xfrm>
          <a:prstGeom prst="roundRect">
            <a:avLst>
              <a:gd name="adj" fmla="val 5000"/>
            </a:avLst>
          </a:prstGeom>
          <a:solidFill>
            <a:srgbClr val="F4F8F9"/>
          </a:solidFill>
          <a:ln w="12700">
            <a:solidFill>
              <a:srgbClr val="DCE6E8"/>
            </a:solidFill>
            <a:prstDash val="solid"/>
          </a:ln>
        </p:spPr>
      </p:sp>
      <p:sp>
        <p:nvSpPr>
          <p:cNvPr id="12" name="Shape 8"/>
          <p:cNvSpPr/>
          <p:nvPr/>
        </p:nvSpPr>
        <p:spPr>
          <a:xfrm>
            <a:off x="3332988" y="2555748"/>
            <a:ext cx="685800" cy="685800"/>
          </a:xfrm>
          <a:prstGeom prst="ellipse">
            <a:avLst/>
          </a:prstGeom>
          <a:solidFill>
            <a:srgbClr val="E3F4F4"/>
          </a:solidFill>
          <a:ln/>
        </p:spPr>
      </p:sp>
      <p:pic>
        <p:nvPicPr>
          <p:cNvPr id="13" name="Image 2" descr="icons/layers_teal.png">    </p:cNvPr>
          <p:cNvPicPr>
            <a:picLocks noChangeAspect="1"/>
          </p:cNvPicPr>
          <p:nvPr/>
        </p:nvPicPr>
        <p:blipFill>
          <a:blip r:embed="rId3"/>
          <a:stretch>
            <a:fillRect/>
          </a:stretch>
        </p:blipFill>
        <p:spPr>
          <a:xfrm>
            <a:off x="3497580" y="2720340"/>
            <a:ext cx="356616" cy="356616"/>
          </a:xfrm>
          <a:prstGeom prst="rect">
            <a:avLst/>
          </a:prstGeom>
        </p:spPr>
      </p:pic>
      <p:sp>
        <p:nvSpPr>
          <p:cNvPr id="14" name="Text 9"/>
          <p:cNvSpPr/>
          <p:nvPr/>
        </p:nvSpPr>
        <p:spPr>
          <a:xfrm>
            <a:off x="2871216" y="2404872"/>
            <a:ext cx="548640" cy="274320"/>
          </a:xfrm>
          <a:prstGeom prst="rect">
            <a:avLst/>
          </a:prstGeom>
          <a:noFill/>
          <a:ln/>
        </p:spPr>
        <p:txBody>
          <a:bodyPr wrap="square" rtlCol="0" anchor="ctr"/>
          <a:lstStyle/>
          <a:p>
            <a:pPr indent="0" marL="0">
              <a:buNone/>
            </a:pPr>
            <a:r>
              <a:rPr lang="en-US" sz="1100" b="1" dirty="0">
                <a:solidFill>
                  <a:srgbClr val="13707A"/>
                </a:solidFill>
                <a:latin typeface="Calibri" pitchFamily="34" charset="0"/>
                <a:ea typeface="Calibri" pitchFamily="34" charset="-122"/>
                <a:cs typeface="Calibri" pitchFamily="34" charset="-120"/>
              </a:rPr>
              <a:t>02</a:t>
            </a:r>
            <a:endParaRPr lang="en-US" sz="1100" dirty="0"/>
          </a:p>
        </p:txBody>
      </p:sp>
      <p:sp>
        <p:nvSpPr>
          <p:cNvPr id="15" name="Text 10"/>
          <p:cNvSpPr/>
          <p:nvPr/>
        </p:nvSpPr>
        <p:spPr>
          <a:xfrm>
            <a:off x="2871216" y="3355848"/>
            <a:ext cx="1609344" cy="502920"/>
          </a:xfrm>
          <a:prstGeom prst="rect">
            <a:avLst/>
          </a:prstGeom>
          <a:noFill/>
          <a:ln/>
        </p:spPr>
        <p:txBody>
          <a:bodyPr wrap="square" rtlCol="0" anchor="ctr"/>
          <a:lstStyle/>
          <a:p>
            <a:pPr algn="ctr" indent="0" marL="0">
              <a:lnSpc>
                <a:spcPts val="1500"/>
              </a:lnSpc>
              <a:buNone/>
            </a:pPr>
            <a:r>
              <a:rPr lang="en-US" sz="1250" b="1" dirty="0">
                <a:solidFill>
                  <a:srgbClr val="16283A"/>
                </a:solidFill>
                <a:latin typeface="Calibri" pitchFamily="34" charset="0"/>
                <a:ea typeface="Calibri" pitchFamily="34" charset="-122"/>
                <a:cs typeface="Calibri" pitchFamily="34" charset="-120"/>
              </a:rPr>
              <a:t>AI Segmentation</a:t>
            </a:r>
            <a:endParaRPr lang="en-US" sz="1250" dirty="0"/>
          </a:p>
        </p:txBody>
      </p:sp>
      <p:sp>
        <p:nvSpPr>
          <p:cNvPr id="16" name="Text 11"/>
          <p:cNvSpPr/>
          <p:nvPr/>
        </p:nvSpPr>
        <p:spPr>
          <a:xfrm>
            <a:off x="2871216" y="3794760"/>
            <a:ext cx="1609344" cy="457200"/>
          </a:xfrm>
          <a:prstGeom prst="rect">
            <a:avLst/>
          </a:prstGeom>
          <a:noFill/>
          <a:ln/>
        </p:spPr>
        <p:txBody>
          <a:bodyPr wrap="square" rtlCol="0" anchor="ctr"/>
          <a:lstStyle/>
          <a:p>
            <a:pPr algn="ctr" indent="0" marL="0">
              <a:lnSpc>
                <a:spcPts val="1200"/>
              </a:lnSpc>
              <a:buNone/>
            </a:pPr>
            <a:r>
              <a:rPr lang="en-US" sz="950" dirty="0">
                <a:solidFill>
                  <a:srgbClr val="5B6B7A"/>
                </a:solidFill>
                <a:latin typeface="Calibri" pitchFamily="34" charset="0"/>
                <a:ea typeface="Calibri" pitchFamily="34" charset="-122"/>
                <a:cs typeface="Calibri" pitchFamily="34" charset="-120"/>
              </a:rPr>
              <a:t>Femur, tibia &amp; meniscus masks</a:t>
            </a:r>
            <a:endParaRPr lang="en-US" sz="950" dirty="0"/>
          </a:p>
        </p:txBody>
      </p:sp>
      <p:pic>
        <p:nvPicPr>
          <p:cNvPr id="17" name="Image 3" descr="icons/arrowright_teal.png">    </p:cNvPr>
          <p:cNvPicPr>
            <a:picLocks noChangeAspect="1"/>
          </p:cNvPicPr>
          <p:nvPr/>
        </p:nvPicPr>
        <p:blipFill>
          <a:blip r:embed="rId4"/>
          <a:stretch>
            <a:fillRect/>
          </a:stretch>
        </p:blipFill>
        <p:spPr>
          <a:xfrm>
            <a:off x="4672584" y="3195828"/>
            <a:ext cx="237744" cy="237744"/>
          </a:xfrm>
          <a:prstGeom prst="rect">
            <a:avLst/>
          </a:prstGeom>
        </p:spPr>
      </p:pic>
      <p:sp>
        <p:nvSpPr>
          <p:cNvPr id="18" name="Shape 12"/>
          <p:cNvSpPr/>
          <p:nvPr/>
        </p:nvSpPr>
        <p:spPr>
          <a:xfrm>
            <a:off x="4974336" y="2331720"/>
            <a:ext cx="1828800" cy="1965960"/>
          </a:xfrm>
          <a:prstGeom prst="roundRect">
            <a:avLst>
              <a:gd name="adj" fmla="val 5000"/>
            </a:avLst>
          </a:prstGeom>
          <a:solidFill>
            <a:srgbClr val="F4F8F9"/>
          </a:solidFill>
          <a:ln w="12700">
            <a:solidFill>
              <a:srgbClr val="DCE6E8"/>
            </a:solidFill>
            <a:prstDash val="solid"/>
          </a:ln>
        </p:spPr>
      </p:sp>
      <p:sp>
        <p:nvSpPr>
          <p:cNvPr id="19" name="Shape 13"/>
          <p:cNvSpPr/>
          <p:nvPr/>
        </p:nvSpPr>
        <p:spPr>
          <a:xfrm>
            <a:off x="5545836" y="2555748"/>
            <a:ext cx="685800" cy="685800"/>
          </a:xfrm>
          <a:prstGeom prst="ellipse">
            <a:avLst/>
          </a:prstGeom>
          <a:solidFill>
            <a:srgbClr val="E3F4F4"/>
          </a:solidFill>
          <a:ln/>
        </p:spPr>
      </p:sp>
      <p:pic>
        <p:nvPicPr>
          <p:cNvPr id="20" name="Image 4" descr="icons/cube_teal.png">    </p:cNvPr>
          <p:cNvPicPr>
            <a:picLocks noChangeAspect="1"/>
          </p:cNvPicPr>
          <p:nvPr/>
        </p:nvPicPr>
        <p:blipFill>
          <a:blip r:embed="rId5"/>
          <a:stretch>
            <a:fillRect/>
          </a:stretch>
        </p:blipFill>
        <p:spPr>
          <a:xfrm>
            <a:off x="5710428" y="2720340"/>
            <a:ext cx="356616" cy="356616"/>
          </a:xfrm>
          <a:prstGeom prst="rect">
            <a:avLst/>
          </a:prstGeom>
        </p:spPr>
      </p:pic>
      <p:sp>
        <p:nvSpPr>
          <p:cNvPr id="21" name="Text 14"/>
          <p:cNvSpPr/>
          <p:nvPr/>
        </p:nvSpPr>
        <p:spPr>
          <a:xfrm>
            <a:off x="5084064" y="2404872"/>
            <a:ext cx="548640" cy="274320"/>
          </a:xfrm>
          <a:prstGeom prst="rect">
            <a:avLst/>
          </a:prstGeom>
          <a:noFill/>
          <a:ln/>
        </p:spPr>
        <p:txBody>
          <a:bodyPr wrap="square" rtlCol="0" anchor="ctr"/>
          <a:lstStyle/>
          <a:p>
            <a:pPr indent="0" marL="0">
              <a:buNone/>
            </a:pPr>
            <a:r>
              <a:rPr lang="en-US" sz="1100" b="1" dirty="0">
                <a:solidFill>
                  <a:srgbClr val="13707A"/>
                </a:solidFill>
                <a:latin typeface="Calibri" pitchFamily="34" charset="0"/>
                <a:ea typeface="Calibri" pitchFamily="34" charset="-122"/>
                <a:cs typeface="Calibri" pitchFamily="34" charset="-120"/>
              </a:rPr>
              <a:t>03</a:t>
            </a:r>
            <a:endParaRPr lang="en-US" sz="1100" dirty="0"/>
          </a:p>
        </p:txBody>
      </p:sp>
      <p:sp>
        <p:nvSpPr>
          <p:cNvPr id="22" name="Text 15"/>
          <p:cNvSpPr/>
          <p:nvPr/>
        </p:nvSpPr>
        <p:spPr>
          <a:xfrm>
            <a:off x="5084064" y="3355848"/>
            <a:ext cx="1609344" cy="502920"/>
          </a:xfrm>
          <a:prstGeom prst="rect">
            <a:avLst/>
          </a:prstGeom>
          <a:noFill/>
          <a:ln/>
        </p:spPr>
        <p:txBody>
          <a:bodyPr wrap="square" rtlCol="0" anchor="ctr"/>
          <a:lstStyle/>
          <a:p>
            <a:pPr algn="ctr" indent="0" marL="0">
              <a:lnSpc>
                <a:spcPts val="1500"/>
              </a:lnSpc>
              <a:buNone/>
            </a:pPr>
            <a:r>
              <a:rPr lang="en-US" sz="1250" b="1" dirty="0">
                <a:solidFill>
                  <a:srgbClr val="16283A"/>
                </a:solidFill>
                <a:latin typeface="Calibri" pitchFamily="34" charset="0"/>
                <a:ea typeface="Calibri" pitchFamily="34" charset="-122"/>
                <a:cs typeface="Calibri" pitchFamily="34" charset="-120"/>
              </a:rPr>
              <a:t>Morphological Profile</a:t>
            </a:r>
            <a:endParaRPr lang="en-US" sz="1250" dirty="0"/>
          </a:p>
        </p:txBody>
      </p:sp>
      <p:sp>
        <p:nvSpPr>
          <p:cNvPr id="23" name="Text 16"/>
          <p:cNvSpPr/>
          <p:nvPr/>
        </p:nvSpPr>
        <p:spPr>
          <a:xfrm>
            <a:off x="5084064" y="3794760"/>
            <a:ext cx="1609344" cy="457200"/>
          </a:xfrm>
          <a:prstGeom prst="rect">
            <a:avLst/>
          </a:prstGeom>
          <a:noFill/>
          <a:ln/>
        </p:spPr>
        <p:txBody>
          <a:bodyPr wrap="square" rtlCol="0" anchor="ctr"/>
          <a:lstStyle/>
          <a:p>
            <a:pPr algn="ctr" indent="0" marL="0">
              <a:lnSpc>
                <a:spcPts val="1200"/>
              </a:lnSpc>
              <a:buNone/>
            </a:pPr>
            <a:r>
              <a:rPr lang="en-US" sz="950" dirty="0">
                <a:solidFill>
                  <a:srgbClr val="5B6B7A"/>
                </a:solidFill>
                <a:latin typeface="Calibri" pitchFamily="34" charset="0"/>
                <a:ea typeface="Calibri" pitchFamily="34" charset="-122"/>
                <a:cs typeface="Calibri" pitchFamily="34" charset="-120"/>
              </a:rPr>
              <a:t>Volume · thickness · AP/ML geometry</a:t>
            </a:r>
            <a:endParaRPr lang="en-US" sz="950" dirty="0"/>
          </a:p>
        </p:txBody>
      </p:sp>
      <p:pic>
        <p:nvPicPr>
          <p:cNvPr id="24" name="Image 5" descr="icons/arrowright_teal.png">    </p:cNvPr>
          <p:cNvPicPr>
            <a:picLocks noChangeAspect="1"/>
          </p:cNvPicPr>
          <p:nvPr/>
        </p:nvPicPr>
        <p:blipFill>
          <a:blip r:embed="rId6"/>
          <a:stretch>
            <a:fillRect/>
          </a:stretch>
        </p:blipFill>
        <p:spPr>
          <a:xfrm>
            <a:off x="6885432" y="3195828"/>
            <a:ext cx="237744" cy="237744"/>
          </a:xfrm>
          <a:prstGeom prst="rect">
            <a:avLst/>
          </a:prstGeom>
        </p:spPr>
      </p:pic>
      <p:sp>
        <p:nvSpPr>
          <p:cNvPr id="25" name="Shape 17"/>
          <p:cNvSpPr/>
          <p:nvPr/>
        </p:nvSpPr>
        <p:spPr>
          <a:xfrm>
            <a:off x="7187184" y="2331720"/>
            <a:ext cx="1828800" cy="1965960"/>
          </a:xfrm>
          <a:prstGeom prst="roundRect">
            <a:avLst>
              <a:gd name="adj" fmla="val 5000"/>
            </a:avLst>
          </a:prstGeom>
          <a:solidFill>
            <a:srgbClr val="F4F8F9"/>
          </a:solidFill>
          <a:ln w="12700">
            <a:solidFill>
              <a:srgbClr val="DCE6E8"/>
            </a:solidFill>
            <a:prstDash val="solid"/>
          </a:ln>
        </p:spPr>
      </p:sp>
      <p:sp>
        <p:nvSpPr>
          <p:cNvPr id="26" name="Shape 18"/>
          <p:cNvSpPr/>
          <p:nvPr/>
        </p:nvSpPr>
        <p:spPr>
          <a:xfrm>
            <a:off x="7758684" y="2555748"/>
            <a:ext cx="685800" cy="685800"/>
          </a:xfrm>
          <a:prstGeom prst="ellipse">
            <a:avLst/>
          </a:prstGeom>
          <a:solidFill>
            <a:srgbClr val="E3F4F4"/>
          </a:solidFill>
          <a:ln/>
        </p:spPr>
      </p:sp>
      <p:pic>
        <p:nvPicPr>
          <p:cNvPr id="27" name="Image 6" descr="icons/database_teal.png">    </p:cNvPr>
          <p:cNvPicPr>
            <a:picLocks noChangeAspect="1"/>
          </p:cNvPicPr>
          <p:nvPr/>
        </p:nvPicPr>
        <p:blipFill>
          <a:blip r:embed="rId7"/>
          <a:stretch>
            <a:fillRect/>
          </a:stretch>
        </p:blipFill>
        <p:spPr>
          <a:xfrm>
            <a:off x="7923276" y="2720340"/>
            <a:ext cx="356616" cy="356616"/>
          </a:xfrm>
          <a:prstGeom prst="rect">
            <a:avLst/>
          </a:prstGeom>
        </p:spPr>
      </p:pic>
      <p:sp>
        <p:nvSpPr>
          <p:cNvPr id="28" name="Text 19"/>
          <p:cNvSpPr/>
          <p:nvPr/>
        </p:nvSpPr>
        <p:spPr>
          <a:xfrm>
            <a:off x="7296912" y="2404872"/>
            <a:ext cx="548640" cy="274320"/>
          </a:xfrm>
          <a:prstGeom prst="rect">
            <a:avLst/>
          </a:prstGeom>
          <a:noFill/>
          <a:ln/>
        </p:spPr>
        <p:txBody>
          <a:bodyPr wrap="square" rtlCol="0" anchor="ctr"/>
          <a:lstStyle/>
          <a:p>
            <a:pPr indent="0" marL="0">
              <a:buNone/>
            </a:pPr>
            <a:r>
              <a:rPr lang="en-US" sz="1100" b="1" dirty="0">
                <a:solidFill>
                  <a:srgbClr val="13707A"/>
                </a:solidFill>
                <a:latin typeface="Calibri" pitchFamily="34" charset="0"/>
                <a:ea typeface="Calibri" pitchFamily="34" charset="-122"/>
                <a:cs typeface="Calibri" pitchFamily="34" charset="-120"/>
              </a:rPr>
              <a:t>04</a:t>
            </a:r>
            <a:endParaRPr lang="en-US" sz="1100" dirty="0"/>
          </a:p>
        </p:txBody>
      </p:sp>
      <p:sp>
        <p:nvSpPr>
          <p:cNvPr id="29" name="Text 20"/>
          <p:cNvSpPr/>
          <p:nvPr/>
        </p:nvSpPr>
        <p:spPr>
          <a:xfrm>
            <a:off x="7296912" y="3355848"/>
            <a:ext cx="1609344" cy="502920"/>
          </a:xfrm>
          <a:prstGeom prst="rect">
            <a:avLst/>
          </a:prstGeom>
          <a:noFill/>
          <a:ln/>
        </p:spPr>
        <p:txBody>
          <a:bodyPr wrap="square" rtlCol="0" anchor="ctr"/>
          <a:lstStyle/>
          <a:p>
            <a:pPr algn="ctr" indent="0" marL="0">
              <a:lnSpc>
                <a:spcPts val="1500"/>
              </a:lnSpc>
              <a:buNone/>
            </a:pPr>
            <a:r>
              <a:rPr lang="en-US" sz="1250" b="1" dirty="0">
                <a:solidFill>
                  <a:srgbClr val="16283A"/>
                </a:solidFill>
                <a:latin typeface="Calibri" pitchFamily="34" charset="0"/>
                <a:ea typeface="Calibri" pitchFamily="34" charset="-122"/>
                <a:cs typeface="Calibri" pitchFamily="34" charset="-120"/>
              </a:rPr>
              <a:t>Sizing &amp; OA Comparison</a:t>
            </a:r>
            <a:endParaRPr lang="en-US" sz="1250" dirty="0"/>
          </a:p>
        </p:txBody>
      </p:sp>
      <p:sp>
        <p:nvSpPr>
          <p:cNvPr id="30" name="Text 21"/>
          <p:cNvSpPr/>
          <p:nvPr/>
        </p:nvSpPr>
        <p:spPr>
          <a:xfrm>
            <a:off x="7296912" y="3794760"/>
            <a:ext cx="1609344" cy="457200"/>
          </a:xfrm>
          <a:prstGeom prst="rect">
            <a:avLst/>
          </a:prstGeom>
          <a:noFill/>
          <a:ln/>
        </p:spPr>
        <p:txBody>
          <a:bodyPr wrap="square" rtlCol="0" anchor="ctr"/>
          <a:lstStyle/>
          <a:p>
            <a:pPr algn="ctr" indent="0" marL="0">
              <a:lnSpc>
                <a:spcPts val="1200"/>
              </a:lnSpc>
              <a:buNone/>
            </a:pPr>
            <a:r>
              <a:rPr lang="en-US" sz="950" dirty="0">
                <a:solidFill>
                  <a:srgbClr val="5B6B7A"/>
                </a:solidFill>
                <a:latin typeface="Calibri" pitchFamily="34" charset="0"/>
                <a:ea typeface="Calibri" pitchFamily="34" charset="-122"/>
                <a:cs typeface="Calibri" pitchFamily="34" charset="-120"/>
              </a:rPr>
              <a:t>Match implant DB / labelled OA cases</a:t>
            </a:r>
            <a:endParaRPr lang="en-US" sz="950" dirty="0"/>
          </a:p>
        </p:txBody>
      </p:sp>
      <p:pic>
        <p:nvPicPr>
          <p:cNvPr id="31" name="Image 7" descr="icons/arrowright_teal.png">    </p:cNvPr>
          <p:cNvPicPr>
            <a:picLocks noChangeAspect="1"/>
          </p:cNvPicPr>
          <p:nvPr/>
        </p:nvPicPr>
        <p:blipFill>
          <a:blip r:embed="rId8"/>
          <a:stretch>
            <a:fillRect/>
          </a:stretch>
        </p:blipFill>
        <p:spPr>
          <a:xfrm>
            <a:off x="9098280" y="3195828"/>
            <a:ext cx="237744" cy="237744"/>
          </a:xfrm>
          <a:prstGeom prst="rect">
            <a:avLst/>
          </a:prstGeom>
        </p:spPr>
      </p:pic>
      <p:sp>
        <p:nvSpPr>
          <p:cNvPr id="32" name="Shape 22"/>
          <p:cNvSpPr/>
          <p:nvPr/>
        </p:nvSpPr>
        <p:spPr>
          <a:xfrm>
            <a:off x="9400032" y="2331720"/>
            <a:ext cx="1828800" cy="1965960"/>
          </a:xfrm>
          <a:prstGeom prst="roundRect">
            <a:avLst>
              <a:gd name="adj" fmla="val 5000"/>
            </a:avLst>
          </a:prstGeom>
          <a:solidFill>
            <a:srgbClr val="13707A"/>
          </a:solidFill>
          <a:ln w="12700">
            <a:solidFill>
              <a:srgbClr val="DCE6E8"/>
            </a:solidFill>
            <a:prstDash val="solid"/>
          </a:ln>
        </p:spPr>
      </p:sp>
      <p:sp>
        <p:nvSpPr>
          <p:cNvPr id="33" name="Shape 23"/>
          <p:cNvSpPr/>
          <p:nvPr/>
        </p:nvSpPr>
        <p:spPr>
          <a:xfrm>
            <a:off x="9971532" y="2555748"/>
            <a:ext cx="685800" cy="685800"/>
          </a:xfrm>
          <a:prstGeom prst="ellipse">
            <a:avLst/>
          </a:prstGeom>
          <a:solidFill>
            <a:srgbClr val="FFFFFF"/>
          </a:solidFill>
          <a:ln/>
        </p:spPr>
      </p:sp>
      <p:pic>
        <p:nvPicPr>
          <p:cNvPr id="34" name="Image 8" descr="icons/clipboard_navy.png">    </p:cNvPr>
          <p:cNvPicPr>
            <a:picLocks noChangeAspect="1"/>
          </p:cNvPicPr>
          <p:nvPr/>
        </p:nvPicPr>
        <p:blipFill>
          <a:blip r:embed="rId9"/>
          <a:stretch>
            <a:fillRect/>
          </a:stretch>
        </p:blipFill>
        <p:spPr>
          <a:xfrm>
            <a:off x="10136124" y="2720340"/>
            <a:ext cx="356616" cy="356616"/>
          </a:xfrm>
          <a:prstGeom prst="rect">
            <a:avLst/>
          </a:prstGeom>
        </p:spPr>
      </p:pic>
      <p:sp>
        <p:nvSpPr>
          <p:cNvPr id="35" name="Text 24"/>
          <p:cNvSpPr/>
          <p:nvPr/>
        </p:nvSpPr>
        <p:spPr>
          <a:xfrm>
            <a:off x="9509760" y="2404872"/>
            <a:ext cx="548640" cy="274320"/>
          </a:xfrm>
          <a:prstGeom prst="rect">
            <a:avLst/>
          </a:prstGeom>
          <a:noFill/>
          <a:ln/>
        </p:spPr>
        <p:txBody>
          <a:bodyPr wrap="square" rtlCol="0" anchor="ctr"/>
          <a:lstStyle/>
          <a:p>
            <a:pPr indent="0" marL="0">
              <a:buNone/>
            </a:pPr>
            <a:r>
              <a:rPr lang="en-US" sz="1100" b="1" dirty="0">
                <a:solidFill>
                  <a:srgbClr val="9FE3E6"/>
                </a:solidFill>
                <a:latin typeface="Calibri" pitchFamily="34" charset="0"/>
                <a:ea typeface="Calibri" pitchFamily="34" charset="-122"/>
                <a:cs typeface="Calibri" pitchFamily="34" charset="-120"/>
              </a:rPr>
              <a:t>05</a:t>
            </a:r>
            <a:endParaRPr lang="en-US" sz="1100" dirty="0"/>
          </a:p>
        </p:txBody>
      </p:sp>
      <p:sp>
        <p:nvSpPr>
          <p:cNvPr id="36" name="Text 25"/>
          <p:cNvSpPr/>
          <p:nvPr/>
        </p:nvSpPr>
        <p:spPr>
          <a:xfrm>
            <a:off x="9509760" y="3355848"/>
            <a:ext cx="1609344" cy="502920"/>
          </a:xfrm>
          <a:prstGeom prst="rect">
            <a:avLst/>
          </a:prstGeom>
          <a:noFill/>
          <a:ln/>
        </p:spPr>
        <p:txBody>
          <a:bodyPr wrap="square" rtlCol="0" anchor="ctr"/>
          <a:lstStyle/>
          <a:p>
            <a:pPr algn="ctr" indent="0" marL="0">
              <a:lnSpc>
                <a:spcPts val="1500"/>
              </a:lnSpc>
              <a:buNone/>
            </a:pPr>
            <a:r>
              <a:rPr lang="en-US" sz="1250" b="1" dirty="0">
                <a:solidFill>
                  <a:srgbClr val="FFFFFF"/>
                </a:solidFill>
                <a:latin typeface="Calibri" pitchFamily="34" charset="0"/>
                <a:ea typeface="Calibri" pitchFamily="34" charset="-122"/>
                <a:cs typeface="Calibri" pitchFamily="34" charset="-120"/>
              </a:rPr>
              <a:t>Explainable Report</a:t>
            </a:r>
            <a:endParaRPr lang="en-US" sz="1250" dirty="0"/>
          </a:p>
        </p:txBody>
      </p:sp>
      <p:sp>
        <p:nvSpPr>
          <p:cNvPr id="37" name="Text 26"/>
          <p:cNvSpPr/>
          <p:nvPr/>
        </p:nvSpPr>
        <p:spPr>
          <a:xfrm>
            <a:off x="9509760" y="3794760"/>
            <a:ext cx="1609344" cy="457200"/>
          </a:xfrm>
          <a:prstGeom prst="rect">
            <a:avLst/>
          </a:prstGeom>
          <a:noFill/>
          <a:ln/>
        </p:spPr>
        <p:txBody>
          <a:bodyPr wrap="square" rtlCol="0" anchor="ctr"/>
          <a:lstStyle/>
          <a:p>
            <a:pPr algn="ctr" indent="0" marL="0">
              <a:lnSpc>
                <a:spcPts val="1200"/>
              </a:lnSpc>
              <a:buNone/>
            </a:pPr>
            <a:r>
              <a:rPr lang="en-US" sz="950" dirty="0">
                <a:solidFill>
                  <a:srgbClr val="CFEAE8"/>
                </a:solidFill>
                <a:latin typeface="Calibri" pitchFamily="34" charset="0"/>
                <a:ea typeface="Calibri" pitchFamily="34" charset="-122"/>
                <a:cs typeface="Calibri" pitchFamily="34" charset="-120"/>
              </a:rPr>
              <a:t>Visualized, reviewable output</a:t>
            </a:r>
            <a:endParaRPr lang="en-US" sz="950" dirty="0"/>
          </a:p>
        </p:txBody>
      </p:sp>
      <p:sp>
        <p:nvSpPr>
          <p:cNvPr id="38" name="Shape 27"/>
          <p:cNvSpPr/>
          <p:nvPr/>
        </p:nvSpPr>
        <p:spPr>
          <a:xfrm>
            <a:off x="4590288" y="4572000"/>
            <a:ext cx="1828800" cy="1234440"/>
          </a:xfrm>
          <a:prstGeom prst="roundRect">
            <a:avLst>
              <a:gd name="adj" fmla="val 5926"/>
            </a:avLst>
          </a:prstGeom>
          <a:solidFill>
            <a:srgbClr val="FFF3F0"/>
          </a:solidFill>
          <a:ln w="12700">
            <a:solidFill>
              <a:srgbClr val="FF6F59"/>
            </a:solidFill>
            <a:prstDash val="solid"/>
          </a:ln>
        </p:spPr>
      </p:sp>
      <p:sp>
        <p:nvSpPr>
          <p:cNvPr id="39" name="Text 28"/>
          <p:cNvSpPr/>
          <p:nvPr/>
        </p:nvSpPr>
        <p:spPr>
          <a:xfrm>
            <a:off x="4709160" y="4645152"/>
            <a:ext cx="1600200" cy="365760"/>
          </a:xfrm>
          <a:prstGeom prst="rect">
            <a:avLst/>
          </a:prstGeom>
          <a:noFill/>
          <a:ln/>
        </p:spPr>
        <p:txBody>
          <a:bodyPr wrap="square" rtlCol="0" anchor="ctr"/>
          <a:lstStyle/>
          <a:p>
            <a:pPr indent="0" marL="0">
              <a:lnSpc>
                <a:spcPts val="1100"/>
              </a:lnSpc>
              <a:buNone/>
            </a:pPr>
            <a:r>
              <a:rPr lang="en-US" sz="900" b="1" dirty="0">
                <a:solidFill>
                  <a:srgbClr val="FF6F59"/>
                </a:solidFill>
                <a:latin typeface="Calibri" pitchFamily="34" charset="0"/>
                <a:ea typeface="Calibri" pitchFamily="34" charset="-122"/>
                <a:cs typeface="Calibri" pitchFamily="34" charset="-120"/>
              </a:rPr>
              <a:t>Split into three parallel measures:</a:t>
            </a:r>
            <a:endParaRPr lang="en-US" sz="900" dirty="0"/>
          </a:p>
        </p:txBody>
      </p:sp>
      <p:sp>
        <p:nvSpPr>
          <p:cNvPr id="40" name="Text 29"/>
          <p:cNvSpPr/>
          <p:nvPr/>
        </p:nvSpPr>
        <p:spPr>
          <a:xfrm>
            <a:off x="4709160" y="4983480"/>
            <a:ext cx="1600200" cy="731520"/>
          </a:xfrm>
          <a:prstGeom prst="rect">
            <a:avLst/>
          </a:prstGeom>
          <a:noFill/>
          <a:ln/>
        </p:spPr>
        <p:txBody>
          <a:bodyPr wrap="square" rtlCol="0" anchor="ctr"/>
          <a:lstStyle/>
          <a:p>
            <a:pPr indent="0" marL="0">
              <a:lnSpc>
                <a:spcPts val="1400"/>
              </a:lnSpc>
              <a:buNone/>
            </a:pPr>
            <a:r>
              <a:rPr lang="en-US" sz="950" dirty="0">
                <a:solidFill>
                  <a:srgbClr val="16283A"/>
                </a:solidFill>
                <a:latin typeface="Calibri" pitchFamily="34" charset="0"/>
                <a:ea typeface="Calibri" pitchFamily="34" charset="-122"/>
                <a:cs typeface="Calibri" pitchFamily="34" charset="-120"/>
              </a:rPr>
              <a:t>• Volume</a:t>
            </a:r>
            <a:endParaRPr lang="en-US" sz="950" dirty="0"/>
          </a:p>
          <a:p>
            <a:pPr indent="0" marL="0">
              <a:lnSpc>
                <a:spcPts val="1400"/>
              </a:lnSpc>
              <a:buNone/>
            </a:pPr>
            <a:r>
              <a:rPr lang="en-US" sz="950" dirty="0">
                <a:solidFill>
                  <a:srgbClr val="16283A"/>
                </a:solidFill>
                <a:latin typeface="Calibri" pitchFamily="34" charset="0"/>
                <a:ea typeface="Calibri" pitchFamily="34" charset="-122"/>
                <a:cs typeface="Calibri" pitchFamily="34" charset="-120"/>
              </a:rPr>
              <a:t>• Thickness</a:t>
            </a:r>
            <a:endParaRPr lang="en-US" sz="950" dirty="0"/>
          </a:p>
          <a:p>
            <a:pPr indent="0" marL="0">
              <a:lnSpc>
                <a:spcPts val="1400"/>
              </a:lnSpc>
              <a:buNone/>
            </a:pPr>
            <a:r>
              <a:rPr lang="en-US" sz="950" dirty="0">
                <a:solidFill>
                  <a:srgbClr val="16283A"/>
                </a:solidFill>
                <a:latin typeface="Calibri" pitchFamily="34" charset="0"/>
                <a:ea typeface="Calibri" pitchFamily="34" charset="-122"/>
                <a:cs typeface="Calibri" pitchFamily="34" charset="-120"/>
              </a:rPr>
              <a:t>• Geometry (AP/ML)</a:t>
            </a:r>
            <a:endParaRPr lang="en-US" sz="950" dirty="0"/>
          </a:p>
        </p:txBody>
      </p:sp>
      <p:sp>
        <p:nvSpPr>
          <p:cNvPr id="41" name="Text 30"/>
          <p:cNvSpPr/>
          <p:nvPr/>
        </p:nvSpPr>
        <p:spPr>
          <a:xfrm>
            <a:off x="548640" y="6080760"/>
            <a:ext cx="11064240" cy="457200"/>
          </a:xfrm>
          <a:prstGeom prst="rect">
            <a:avLst/>
          </a:prstGeom>
          <a:noFill/>
          <a:ln/>
        </p:spPr>
        <p:txBody>
          <a:bodyPr wrap="square"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Both clinical modules share Steps 1–2 (imaging + segmentation) before branching into osteoarthritis comparison or implant-size matching — keeping the pipeline consistent and auditable end to end.</a:t>
            </a:r>
            <a:endParaRPr lang="en-US" sz="1150" dirty="0"/>
          </a:p>
        </p:txBody>
      </p:sp>
      <p:sp>
        <p:nvSpPr>
          <p:cNvPr id="42" name="Text 31"/>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AA7B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E4F"/>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6FD6DB"/>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 Layered, Modular Platform Architecture</a:t>
            </a:r>
            <a:endParaRPr lang="en-US" sz="2700" dirty="0"/>
          </a:p>
        </p:txBody>
      </p:sp>
      <p:sp>
        <p:nvSpPr>
          <p:cNvPr id="4" name="Shape 2"/>
          <p:cNvSpPr/>
          <p:nvPr/>
        </p:nvSpPr>
        <p:spPr>
          <a:xfrm>
            <a:off x="548640" y="1783080"/>
            <a:ext cx="2697480" cy="4297680"/>
          </a:xfrm>
          <a:prstGeom prst="roundRect">
            <a:avLst>
              <a:gd name="adj" fmla="val 3390"/>
            </a:avLst>
          </a:prstGeom>
          <a:solidFill>
            <a:srgbClr val="0E2740"/>
          </a:solidFill>
          <a:ln w="12700">
            <a:solidFill>
              <a:srgbClr val="1E4E76"/>
            </a:solidFill>
            <a:prstDash val="solid"/>
          </a:ln>
        </p:spPr>
      </p:sp>
      <p:sp>
        <p:nvSpPr>
          <p:cNvPr id="5" name="Shape 3"/>
          <p:cNvSpPr/>
          <p:nvPr/>
        </p:nvSpPr>
        <p:spPr>
          <a:xfrm>
            <a:off x="1600200" y="1988820"/>
            <a:ext cx="594360" cy="594360"/>
          </a:xfrm>
          <a:prstGeom prst="ellipse">
            <a:avLst/>
          </a:prstGeom>
          <a:solidFill>
            <a:srgbClr val="12395A"/>
          </a:solidFill>
          <a:ln/>
        </p:spPr>
      </p:sp>
      <p:pic>
        <p:nvPicPr>
          <p:cNvPr id="6" name="Image 0" descr="icons/scan_teal.png">    </p:cNvPr>
          <p:cNvPicPr>
            <a:picLocks noChangeAspect="1"/>
          </p:cNvPicPr>
          <p:nvPr/>
        </p:nvPicPr>
        <p:blipFill>
          <a:blip r:embed="rId1"/>
          <a:stretch>
            <a:fillRect/>
          </a:stretch>
        </p:blipFill>
        <p:spPr>
          <a:xfrm>
            <a:off x="1742846" y="2131466"/>
            <a:ext cx="309067" cy="309067"/>
          </a:xfrm>
          <a:prstGeom prst="rect">
            <a:avLst/>
          </a:prstGeom>
        </p:spPr>
      </p:pic>
      <p:sp>
        <p:nvSpPr>
          <p:cNvPr id="7" name="Text 4"/>
          <p:cNvSpPr/>
          <p:nvPr/>
        </p:nvSpPr>
        <p:spPr>
          <a:xfrm>
            <a:off x="685800" y="2697480"/>
            <a:ext cx="2423160" cy="457200"/>
          </a:xfrm>
          <a:prstGeom prst="rect">
            <a:avLst/>
          </a:prstGeom>
          <a:noFill/>
          <a:ln/>
        </p:spPr>
        <p:txBody>
          <a:bodyPr wrap="square" rtlCol="0" anchor="ctr"/>
          <a:lstStyle/>
          <a:p>
            <a:pPr algn="ctr" indent="0" marL="0">
              <a:lnSpc>
                <a:spcPts val="1300"/>
              </a:lnSpc>
              <a:buNone/>
            </a:pPr>
            <a:r>
              <a:rPr lang="en-US" sz="1150" b="1" dirty="0">
                <a:solidFill>
                  <a:srgbClr val="6FD6DB"/>
                </a:solidFill>
                <a:latin typeface="Calibri" pitchFamily="34" charset="0"/>
                <a:ea typeface="Calibri" pitchFamily="34" charset="-122"/>
                <a:cs typeface="Calibri" pitchFamily="34" charset="-120"/>
              </a:rPr>
              <a:t>DATA LAYER</a:t>
            </a:r>
            <a:endParaRPr lang="en-US" sz="1150" dirty="0"/>
          </a:p>
        </p:txBody>
      </p:sp>
      <p:sp>
        <p:nvSpPr>
          <p:cNvPr id="8" name="Shape 5"/>
          <p:cNvSpPr/>
          <p:nvPr/>
        </p:nvSpPr>
        <p:spPr>
          <a:xfrm>
            <a:off x="749808" y="3374136"/>
            <a:ext cx="64008" cy="64008"/>
          </a:xfrm>
          <a:prstGeom prst="ellipse">
            <a:avLst/>
          </a:prstGeom>
          <a:solidFill>
            <a:srgbClr val="1B98A0"/>
          </a:solidFill>
          <a:ln/>
        </p:spPr>
      </p:sp>
      <p:sp>
        <p:nvSpPr>
          <p:cNvPr id="9" name="Text 6"/>
          <p:cNvSpPr/>
          <p:nvPr/>
        </p:nvSpPr>
        <p:spPr>
          <a:xfrm>
            <a:off x="914400" y="3291840"/>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Knee MRI (3D DESS)</a:t>
            </a:r>
            <a:endParaRPr lang="en-US" sz="1000" dirty="0"/>
          </a:p>
        </p:txBody>
      </p:sp>
      <p:sp>
        <p:nvSpPr>
          <p:cNvPr id="10" name="Shape 7"/>
          <p:cNvSpPr/>
          <p:nvPr/>
        </p:nvSpPr>
        <p:spPr>
          <a:xfrm>
            <a:off x="749808" y="3995928"/>
            <a:ext cx="64008" cy="64008"/>
          </a:xfrm>
          <a:prstGeom prst="ellipse">
            <a:avLst/>
          </a:prstGeom>
          <a:solidFill>
            <a:srgbClr val="1B98A0"/>
          </a:solidFill>
          <a:ln/>
        </p:spPr>
      </p:sp>
      <p:sp>
        <p:nvSpPr>
          <p:cNvPr id="11" name="Text 8"/>
          <p:cNvSpPr/>
          <p:nvPr/>
        </p:nvSpPr>
        <p:spPr>
          <a:xfrm>
            <a:off x="914400" y="3913632"/>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Patient demographics</a:t>
            </a:r>
            <a:endParaRPr lang="en-US" sz="1000" dirty="0"/>
          </a:p>
        </p:txBody>
      </p:sp>
      <p:sp>
        <p:nvSpPr>
          <p:cNvPr id="12" name="Shape 9"/>
          <p:cNvSpPr/>
          <p:nvPr/>
        </p:nvSpPr>
        <p:spPr>
          <a:xfrm>
            <a:off x="749808" y="4617720"/>
            <a:ext cx="64008" cy="64008"/>
          </a:xfrm>
          <a:prstGeom prst="ellipse">
            <a:avLst/>
          </a:prstGeom>
          <a:solidFill>
            <a:srgbClr val="1B98A0"/>
          </a:solidFill>
          <a:ln/>
        </p:spPr>
      </p:sp>
      <p:sp>
        <p:nvSpPr>
          <p:cNvPr id="13" name="Text 10"/>
          <p:cNvSpPr/>
          <p:nvPr/>
        </p:nvSpPr>
        <p:spPr>
          <a:xfrm>
            <a:off x="914400" y="4535424"/>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Labelled OA cohort data</a:t>
            </a:r>
            <a:endParaRPr lang="en-US" sz="1000" dirty="0"/>
          </a:p>
        </p:txBody>
      </p:sp>
      <p:sp>
        <p:nvSpPr>
          <p:cNvPr id="14" name="Shape 11"/>
          <p:cNvSpPr/>
          <p:nvPr/>
        </p:nvSpPr>
        <p:spPr>
          <a:xfrm>
            <a:off x="749808" y="5239512"/>
            <a:ext cx="64008" cy="64008"/>
          </a:xfrm>
          <a:prstGeom prst="ellipse">
            <a:avLst/>
          </a:prstGeom>
          <a:solidFill>
            <a:srgbClr val="1B98A0"/>
          </a:solidFill>
          <a:ln/>
        </p:spPr>
      </p:sp>
      <p:sp>
        <p:nvSpPr>
          <p:cNvPr id="15" name="Text 12"/>
          <p:cNvSpPr/>
          <p:nvPr/>
        </p:nvSpPr>
        <p:spPr>
          <a:xfrm>
            <a:off x="914400" y="5157216"/>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Implant specification DB</a:t>
            </a:r>
            <a:endParaRPr lang="en-US" sz="1000" dirty="0"/>
          </a:p>
        </p:txBody>
      </p:sp>
      <p:pic>
        <p:nvPicPr>
          <p:cNvPr id="16" name="Image 1" descr="icons/arrowright_teal.png">    </p:cNvPr>
          <p:cNvPicPr>
            <a:picLocks noChangeAspect="1"/>
          </p:cNvPicPr>
          <p:nvPr/>
        </p:nvPicPr>
        <p:blipFill>
          <a:blip r:embed="rId2"/>
          <a:stretch>
            <a:fillRect/>
          </a:stretch>
        </p:blipFill>
        <p:spPr>
          <a:xfrm>
            <a:off x="3232404" y="3813048"/>
            <a:ext cx="201168" cy="201168"/>
          </a:xfrm>
          <a:prstGeom prst="rect">
            <a:avLst/>
          </a:prstGeom>
        </p:spPr>
      </p:pic>
      <p:sp>
        <p:nvSpPr>
          <p:cNvPr id="17" name="Shape 13"/>
          <p:cNvSpPr/>
          <p:nvPr/>
        </p:nvSpPr>
        <p:spPr>
          <a:xfrm>
            <a:off x="3383280" y="1783080"/>
            <a:ext cx="2697480" cy="4297680"/>
          </a:xfrm>
          <a:prstGeom prst="roundRect">
            <a:avLst>
              <a:gd name="adj" fmla="val 3390"/>
            </a:avLst>
          </a:prstGeom>
          <a:solidFill>
            <a:srgbClr val="0E2740"/>
          </a:solidFill>
          <a:ln w="12700">
            <a:solidFill>
              <a:srgbClr val="1E4E76"/>
            </a:solidFill>
            <a:prstDash val="solid"/>
          </a:ln>
        </p:spPr>
      </p:sp>
      <p:sp>
        <p:nvSpPr>
          <p:cNvPr id="18" name="Shape 14"/>
          <p:cNvSpPr/>
          <p:nvPr/>
        </p:nvSpPr>
        <p:spPr>
          <a:xfrm>
            <a:off x="4434840" y="1988820"/>
            <a:ext cx="594360" cy="594360"/>
          </a:xfrm>
          <a:prstGeom prst="ellipse">
            <a:avLst/>
          </a:prstGeom>
          <a:solidFill>
            <a:srgbClr val="12395A"/>
          </a:solidFill>
          <a:ln/>
        </p:spPr>
      </p:sp>
      <p:pic>
        <p:nvPicPr>
          <p:cNvPr id="19" name="Image 2" descr="icons/layers_teal.png">    </p:cNvPr>
          <p:cNvPicPr>
            <a:picLocks noChangeAspect="1"/>
          </p:cNvPicPr>
          <p:nvPr/>
        </p:nvPicPr>
        <p:blipFill>
          <a:blip r:embed="rId3"/>
          <a:stretch>
            <a:fillRect/>
          </a:stretch>
        </p:blipFill>
        <p:spPr>
          <a:xfrm>
            <a:off x="4577486" y="2131466"/>
            <a:ext cx="309067" cy="309067"/>
          </a:xfrm>
          <a:prstGeom prst="rect">
            <a:avLst/>
          </a:prstGeom>
        </p:spPr>
      </p:pic>
      <p:sp>
        <p:nvSpPr>
          <p:cNvPr id="20" name="Text 15"/>
          <p:cNvSpPr/>
          <p:nvPr/>
        </p:nvSpPr>
        <p:spPr>
          <a:xfrm>
            <a:off x="3520440" y="2697480"/>
            <a:ext cx="2423160" cy="457200"/>
          </a:xfrm>
          <a:prstGeom prst="rect">
            <a:avLst/>
          </a:prstGeom>
          <a:noFill/>
          <a:ln/>
        </p:spPr>
        <p:txBody>
          <a:bodyPr wrap="square" rtlCol="0" anchor="ctr"/>
          <a:lstStyle/>
          <a:p>
            <a:pPr algn="ctr" indent="0" marL="0">
              <a:lnSpc>
                <a:spcPts val="1300"/>
              </a:lnSpc>
              <a:buNone/>
            </a:pPr>
            <a:r>
              <a:rPr lang="en-US" sz="1150" b="1" dirty="0">
                <a:solidFill>
                  <a:srgbClr val="6FD6DB"/>
                </a:solidFill>
                <a:latin typeface="Calibri" pitchFamily="34" charset="0"/>
                <a:ea typeface="Calibri" pitchFamily="34" charset="-122"/>
                <a:cs typeface="Calibri" pitchFamily="34" charset="-120"/>
              </a:rPr>
              <a:t>AI SEGMENTATION LAYER</a:t>
            </a:r>
            <a:endParaRPr lang="en-US" sz="1150" dirty="0"/>
          </a:p>
        </p:txBody>
      </p:sp>
      <p:sp>
        <p:nvSpPr>
          <p:cNvPr id="21" name="Shape 16"/>
          <p:cNvSpPr/>
          <p:nvPr/>
        </p:nvSpPr>
        <p:spPr>
          <a:xfrm>
            <a:off x="3584448" y="3374136"/>
            <a:ext cx="64008" cy="64008"/>
          </a:xfrm>
          <a:prstGeom prst="ellipse">
            <a:avLst/>
          </a:prstGeom>
          <a:solidFill>
            <a:srgbClr val="1B98A0"/>
          </a:solidFill>
          <a:ln/>
        </p:spPr>
      </p:sp>
      <p:sp>
        <p:nvSpPr>
          <p:cNvPr id="22" name="Text 17"/>
          <p:cNvSpPr/>
          <p:nvPr/>
        </p:nvSpPr>
        <p:spPr>
          <a:xfrm>
            <a:off x="3749040" y="3291840"/>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Femur segmentation</a:t>
            </a:r>
            <a:endParaRPr lang="en-US" sz="1000" dirty="0"/>
          </a:p>
        </p:txBody>
      </p:sp>
      <p:sp>
        <p:nvSpPr>
          <p:cNvPr id="23" name="Shape 18"/>
          <p:cNvSpPr/>
          <p:nvPr/>
        </p:nvSpPr>
        <p:spPr>
          <a:xfrm>
            <a:off x="3584448" y="3995928"/>
            <a:ext cx="64008" cy="64008"/>
          </a:xfrm>
          <a:prstGeom prst="ellipse">
            <a:avLst/>
          </a:prstGeom>
          <a:solidFill>
            <a:srgbClr val="1B98A0"/>
          </a:solidFill>
          <a:ln/>
        </p:spPr>
      </p:sp>
      <p:sp>
        <p:nvSpPr>
          <p:cNvPr id="24" name="Text 19"/>
          <p:cNvSpPr/>
          <p:nvPr/>
        </p:nvSpPr>
        <p:spPr>
          <a:xfrm>
            <a:off x="3749040" y="3913632"/>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Tibia segmentation</a:t>
            </a:r>
            <a:endParaRPr lang="en-US" sz="1000" dirty="0"/>
          </a:p>
        </p:txBody>
      </p:sp>
      <p:sp>
        <p:nvSpPr>
          <p:cNvPr id="25" name="Shape 20"/>
          <p:cNvSpPr/>
          <p:nvPr/>
        </p:nvSpPr>
        <p:spPr>
          <a:xfrm>
            <a:off x="3584448" y="4617720"/>
            <a:ext cx="64008" cy="64008"/>
          </a:xfrm>
          <a:prstGeom prst="ellipse">
            <a:avLst/>
          </a:prstGeom>
          <a:solidFill>
            <a:srgbClr val="1B98A0"/>
          </a:solidFill>
          <a:ln/>
        </p:spPr>
      </p:sp>
      <p:sp>
        <p:nvSpPr>
          <p:cNvPr id="26" name="Text 21"/>
          <p:cNvSpPr/>
          <p:nvPr/>
        </p:nvSpPr>
        <p:spPr>
          <a:xfrm>
            <a:off x="3749040" y="4535424"/>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Medial meniscus segmentation</a:t>
            </a:r>
            <a:endParaRPr lang="en-US" sz="1000" dirty="0"/>
          </a:p>
        </p:txBody>
      </p:sp>
      <p:sp>
        <p:nvSpPr>
          <p:cNvPr id="27" name="Shape 22"/>
          <p:cNvSpPr/>
          <p:nvPr/>
        </p:nvSpPr>
        <p:spPr>
          <a:xfrm>
            <a:off x="3584448" y="5239512"/>
            <a:ext cx="64008" cy="64008"/>
          </a:xfrm>
          <a:prstGeom prst="ellipse">
            <a:avLst/>
          </a:prstGeom>
          <a:solidFill>
            <a:srgbClr val="1B98A0"/>
          </a:solidFill>
          <a:ln/>
        </p:spPr>
      </p:sp>
      <p:sp>
        <p:nvSpPr>
          <p:cNvPr id="28" name="Text 23"/>
          <p:cNvSpPr/>
          <p:nvPr/>
        </p:nvSpPr>
        <p:spPr>
          <a:xfrm>
            <a:off x="3749040" y="5157216"/>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Landmark detection</a:t>
            </a:r>
            <a:endParaRPr lang="en-US" sz="1000" dirty="0"/>
          </a:p>
        </p:txBody>
      </p:sp>
      <p:pic>
        <p:nvPicPr>
          <p:cNvPr id="29" name="Image 3" descr="icons/arrowright_teal.png">    </p:cNvPr>
          <p:cNvPicPr>
            <a:picLocks noChangeAspect="1"/>
          </p:cNvPicPr>
          <p:nvPr/>
        </p:nvPicPr>
        <p:blipFill>
          <a:blip r:embed="rId4"/>
          <a:stretch>
            <a:fillRect/>
          </a:stretch>
        </p:blipFill>
        <p:spPr>
          <a:xfrm>
            <a:off x="6067044" y="3813048"/>
            <a:ext cx="201168" cy="201168"/>
          </a:xfrm>
          <a:prstGeom prst="rect">
            <a:avLst/>
          </a:prstGeom>
        </p:spPr>
      </p:pic>
      <p:sp>
        <p:nvSpPr>
          <p:cNvPr id="30" name="Shape 24"/>
          <p:cNvSpPr/>
          <p:nvPr/>
        </p:nvSpPr>
        <p:spPr>
          <a:xfrm>
            <a:off x="6217920" y="1783080"/>
            <a:ext cx="2697480" cy="4297680"/>
          </a:xfrm>
          <a:prstGeom prst="roundRect">
            <a:avLst>
              <a:gd name="adj" fmla="val 3390"/>
            </a:avLst>
          </a:prstGeom>
          <a:solidFill>
            <a:srgbClr val="0E2740"/>
          </a:solidFill>
          <a:ln w="12700">
            <a:solidFill>
              <a:srgbClr val="1E4E76"/>
            </a:solidFill>
            <a:prstDash val="solid"/>
          </a:ln>
        </p:spPr>
      </p:sp>
      <p:sp>
        <p:nvSpPr>
          <p:cNvPr id="31" name="Shape 25"/>
          <p:cNvSpPr/>
          <p:nvPr/>
        </p:nvSpPr>
        <p:spPr>
          <a:xfrm>
            <a:off x="7269480" y="1988820"/>
            <a:ext cx="594360" cy="594360"/>
          </a:xfrm>
          <a:prstGeom prst="ellipse">
            <a:avLst/>
          </a:prstGeom>
          <a:solidFill>
            <a:srgbClr val="12395A"/>
          </a:solidFill>
          <a:ln/>
        </p:spPr>
      </p:sp>
      <p:pic>
        <p:nvPicPr>
          <p:cNvPr id="32" name="Image 4" descr="icons/chart_teal.png">    </p:cNvPr>
          <p:cNvPicPr>
            <a:picLocks noChangeAspect="1"/>
          </p:cNvPicPr>
          <p:nvPr/>
        </p:nvPicPr>
        <p:blipFill>
          <a:blip r:embed="rId5"/>
          <a:stretch>
            <a:fillRect/>
          </a:stretch>
        </p:blipFill>
        <p:spPr>
          <a:xfrm>
            <a:off x="7412126" y="2131466"/>
            <a:ext cx="309067" cy="309067"/>
          </a:xfrm>
          <a:prstGeom prst="rect">
            <a:avLst/>
          </a:prstGeom>
        </p:spPr>
      </p:pic>
      <p:sp>
        <p:nvSpPr>
          <p:cNvPr id="33" name="Text 26"/>
          <p:cNvSpPr/>
          <p:nvPr/>
        </p:nvSpPr>
        <p:spPr>
          <a:xfrm>
            <a:off x="6355080" y="2697480"/>
            <a:ext cx="2423160" cy="457200"/>
          </a:xfrm>
          <a:prstGeom prst="rect">
            <a:avLst/>
          </a:prstGeom>
          <a:noFill/>
          <a:ln/>
        </p:spPr>
        <p:txBody>
          <a:bodyPr wrap="square" rtlCol="0" anchor="ctr"/>
          <a:lstStyle/>
          <a:p>
            <a:pPr algn="ctr" indent="0" marL="0">
              <a:lnSpc>
                <a:spcPts val="1300"/>
              </a:lnSpc>
              <a:buNone/>
            </a:pPr>
            <a:r>
              <a:rPr lang="en-US" sz="1150" b="1" dirty="0">
                <a:solidFill>
                  <a:srgbClr val="6FD6DB"/>
                </a:solidFill>
                <a:latin typeface="Calibri" pitchFamily="34" charset="0"/>
                <a:ea typeface="Calibri" pitchFamily="34" charset="-122"/>
                <a:cs typeface="Calibri" pitchFamily="34" charset="-120"/>
              </a:rPr>
              <a:t>MEASUREMENT &amp; ANALYTICS LAYER</a:t>
            </a:r>
            <a:endParaRPr lang="en-US" sz="1150" dirty="0"/>
          </a:p>
        </p:txBody>
      </p:sp>
      <p:sp>
        <p:nvSpPr>
          <p:cNvPr id="34" name="Shape 27"/>
          <p:cNvSpPr/>
          <p:nvPr/>
        </p:nvSpPr>
        <p:spPr>
          <a:xfrm>
            <a:off x="6419088" y="3374136"/>
            <a:ext cx="64008" cy="64008"/>
          </a:xfrm>
          <a:prstGeom prst="ellipse">
            <a:avLst/>
          </a:prstGeom>
          <a:solidFill>
            <a:srgbClr val="1B98A0"/>
          </a:solidFill>
          <a:ln/>
        </p:spPr>
      </p:sp>
      <p:sp>
        <p:nvSpPr>
          <p:cNvPr id="35" name="Text 28"/>
          <p:cNvSpPr/>
          <p:nvPr/>
        </p:nvSpPr>
        <p:spPr>
          <a:xfrm>
            <a:off x="6583680" y="3291840"/>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Thickness profiling</a:t>
            </a:r>
            <a:endParaRPr lang="en-US" sz="1000" dirty="0"/>
          </a:p>
        </p:txBody>
      </p:sp>
      <p:sp>
        <p:nvSpPr>
          <p:cNvPr id="36" name="Shape 29"/>
          <p:cNvSpPr/>
          <p:nvPr/>
        </p:nvSpPr>
        <p:spPr>
          <a:xfrm>
            <a:off x="6419088" y="3995928"/>
            <a:ext cx="64008" cy="64008"/>
          </a:xfrm>
          <a:prstGeom prst="ellipse">
            <a:avLst/>
          </a:prstGeom>
          <a:solidFill>
            <a:srgbClr val="1B98A0"/>
          </a:solidFill>
          <a:ln/>
        </p:spPr>
      </p:sp>
      <p:sp>
        <p:nvSpPr>
          <p:cNvPr id="37" name="Text 30"/>
          <p:cNvSpPr/>
          <p:nvPr/>
        </p:nvSpPr>
        <p:spPr>
          <a:xfrm>
            <a:off x="6583680" y="3913632"/>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Volume &amp; AP/ML geometry</a:t>
            </a:r>
            <a:endParaRPr lang="en-US" sz="1000" dirty="0"/>
          </a:p>
        </p:txBody>
      </p:sp>
      <p:sp>
        <p:nvSpPr>
          <p:cNvPr id="38" name="Shape 31"/>
          <p:cNvSpPr/>
          <p:nvPr/>
        </p:nvSpPr>
        <p:spPr>
          <a:xfrm>
            <a:off x="6419088" y="4617720"/>
            <a:ext cx="64008" cy="64008"/>
          </a:xfrm>
          <a:prstGeom prst="ellipse">
            <a:avLst/>
          </a:prstGeom>
          <a:solidFill>
            <a:srgbClr val="1B98A0"/>
          </a:solidFill>
          <a:ln/>
        </p:spPr>
      </p:sp>
      <p:sp>
        <p:nvSpPr>
          <p:cNvPr id="39" name="Text 32"/>
          <p:cNvSpPr/>
          <p:nvPr/>
        </p:nvSpPr>
        <p:spPr>
          <a:xfrm>
            <a:off x="6583680" y="4535424"/>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OA statistical comparison</a:t>
            </a:r>
            <a:endParaRPr lang="en-US" sz="1000" dirty="0"/>
          </a:p>
        </p:txBody>
      </p:sp>
      <p:sp>
        <p:nvSpPr>
          <p:cNvPr id="40" name="Shape 33"/>
          <p:cNvSpPr/>
          <p:nvPr/>
        </p:nvSpPr>
        <p:spPr>
          <a:xfrm>
            <a:off x="6419088" y="5239512"/>
            <a:ext cx="64008" cy="64008"/>
          </a:xfrm>
          <a:prstGeom prst="ellipse">
            <a:avLst/>
          </a:prstGeom>
          <a:solidFill>
            <a:srgbClr val="1B98A0"/>
          </a:solidFill>
          <a:ln/>
        </p:spPr>
      </p:sp>
      <p:sp>
        <p:nvSpPr>
          <p:cNvPr id="41" name="Text 34"/>
          <p:cNvSpPr/>
          <p:nvPr/>
        </p:nvSpPr>
        <p:spPr>
          <a:xfrm>
            <a:off x="6583680" y="5157216"/>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Age / sex stratification</a:t>
            </a:r>
            <a:endParaRPr lang="en-US" sz="1000" dirty="0"/>
          </a:p>
        </p:txBody>
      </p:sp>
      <p:pic>
        <p:nvPicPr>
          <p:cNvPr id="42" name="Image 5" descr="icons/arrowright_teal.png">    </p:cNvPr>
          <p:cNvPicPr>
            <a:picLocks noChangeAspect="1"/>
          </p:cNvPicPr>
          <p:nvPr/>
        </p:nvPicPr>
        <p:blipFill>
          <a:blip r:embed="rId6"/>
          <a:stretch>
            <a:fillRect/>
          </a:stretch>
        </p:blipFill>
        <p:spPr>
          <a:xfrm>
            <a:off x="8901684" y="3813048"/>
            <a:ext cx="201168" cy="201168"/>
          </a:xfrm>
          <a:prstGeom prst="rect">
            <a:avLst/>
          </a:prstGeom>
        </p:spPr>
      </p:pic>
      <p:sp>
        <p:nvSpPr>
          <p:cNvPr id="43" name="Shape 35"/>
          <p:cNvSpPr/>
          <p:nvPr/>
        </p:nvSpPr>
        <p:spPr>
          <a:xfrm>
            <a:off x="9052560" y="1783080"/>
            <a:ext cx="2697480" cy="4297680"/>
          </a:xfrm>
          <a:prstGeom prst="roundRect">
            <a:avLst>
              <a:gd name="adj" fmla="val 3390"/>
            </a:avLst>
          </a:prstGeom>
          <a:solidFill>
            <a:srgbClr val="0E2740"/>
          </a:solidFill>
          <a:ln w="12700">
            <a:solidFill>
              <a:srgbClr val="1E4E76"/>
            </a:solidFill>
            <a:prstDash val="solid"/>
          </a:ln>
        </p:spPr>
      </p:sp>
      <p:sp>
        <p:nvSpPr>
          <p:cNvPr id="44" name="Shape 36"/>
          <p:cNvSpPr/>
          <p:nvPr/>
        </p:nvSpPr>
        <p:spPr>
          <a:xfrm>
            <a:off x="10104120" y="1988820"/>
            <a:ext cx="594360" cy="594360"/>
          </a:xfrm>
          <a:prstGeom prst="ellipse">
            <a:avLst/>
          </a:prstGeom>
          <a:solidFill>
            <a:srgbClr val="12395A"/>
          </a:solidFill>
          <a:ln/>
        </p:spPr>
      </p:sp>
      <p:pic>
        <p:nvPicPr>
          <p:cNvPr id="45" name="Image 6" descr="icons/clipboard_teal.png">    </p:cNvPr>
          <p:cNvPicPr>
            <a:picLocks noChangeAspect="1"/>
          </p:cNvPicPr>
          <p:nvPr/>
        </p:nvPicPr>
        <p:blipFill>
          <a:blip r:embed="rId7"/>
          <a:stretch>
            <a:fillRect/>
          </a:stretch>
        </p:blipFill>
        <p:spPr>
          <a:xfrm>
            <a:off x="10246766" y="2131466"/>
            <a:ext cx="309067" cy="309067"/>
          </a:xfrm>
          <a:prstGeom prst="rect">
            <a:avLst/>
          </a:prstGeom>
        </p:spPr>
      </p:pic>
      <p:sp>
        <p:nvSpPr>
          <p:cNvPr id="46" name="Text 37"/>
          <p:cNvSpPr/>
          <p:nvPr/>
        </p:nvSpPr>
        <p:spPr>
          <a:xfrm>
            <a:off x="9189720" y="2697480"/>
            <a:ext cx="2423160" cy="457200"/>
          </a:xfrm>
          <a:prstGeom prst="rect">
            <a:avLst/>
          </a:prstGeom>
          <a:noFill/>
          <a:ln/>
        </p:spPr>
        <p:txBody>
          <a:bodyPr wrap="square" rtlCol="0" anchor="ctr"/>
          <a:lstStyle/>
          <a:p>
            <a:pPr algn="ctr" indent="0" marL="0">
              <a:lnSpc>
                <a:spcPts val="1300"/>
              </a:lnSpc>
              <a:buNone/>
            </a:pPr>
            <a:r>
              <a:rPr lang="en-US" sz="1150" b="1" dirty="0">
                <a:solidFill>
                  <a:srgbClr val="6FD6DB"/>
                </a:solidFill>
                <a:latin typeface="Calibri" pitchFamily="34" charset="0"/>
                <a:ea typeface="Calibri" pitchFamily="34" charset="-122"/>
                <a:cs typeface="Calibri" pitchFamily="34" charset="-120"/>
              </a:rPr>
              <a:t>APPLICATION LAYER</a:t>
            </a:r>
            <a:endParaRPr lang="en-US" sz="1150" dirty="0"/>
          </a:p>
        </p:txBody>
      </p:sp>
      <p:sp>
        <p:nvSpPr>
          <p:cNvPr id="47" name="Shape 38"/>
          <p:cNvSpPr/>
          <p:nvPr/>
        </p:nvSpPr>
        <p:spPr>
          <a:xfrm>
            <a:off x="9253728" y="3374136"/>
            <a:ext cx="64008" cy="64008"/>
          </a:xfrm>
          <a:prstGeom prst="ellipse">
            <a:avLst/>
          </a:prstGeom>
          <a:solidFill>
            <a:srgbClr val="1B98A0"/>
          </a:solidFill>
          <a:ln/>
        </p:spPr>
      </p:sp>
      <p:sp>
        <p:nvSpPr>
          <p:cNvPr id="48" name="Text 39"/>
          <p:cNvSpPr/>
          <p:nvPr/>
        </p:nvSpPr>
        <p:spPr>
          <a:xfrm>
            <a:off x="9418320" y="3291840"/>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Implant size matching</a:t>
            </a:r>
            <a:endParaRPr lang="en-US" sz="1000" dirty="0"/>
          </a:p>
        </p:txBody>
      </p:sp>
      <p:sp>
        <p:nvSpPr>
          <p:cNvPr id="49" name="Shape 40"/>
          <p:cNvSpPr/>
          <p:nvPr/>
        </p:nvSpPr>
        <p:spPr>
          <a:xfrm>
            <a:off x="9253728" y="3995928"/>
            <a:ext cx="64008" cy="64008"/>
          </a:xfrm>
          <a:prstGeom prst="ellipse">
            <a:avLst/>
          </a:prstGeom>
          <a:solidFill>
            <a:srgbClr val="1B98A0"/>
          </a:solidFill>
          <a:ln/>
        </p:spPr>
      </p:sp>
      <p:sp>
        <p:nvSpPr>
          <p:cNvPr id="50" name="Text 41"/>
          <p:cNvSpPr/>
          <p:nvPr/>
        </p:nvSpPr>
        <p:spPr>
          <a:xfrm>
            <a:off x="9418320" y="3913632"/>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Explainable recommendation</a:t>
            </a:r>
            <a:endParaRPr lang="en-US" sz="1000" dirty="0"/>
          </a:p>
        </p:txBody>
      </p:sp>
      <p:sp>
        <p:nvSpPr>
          <p:cNvPr id="51" name="Shape 42"/>
          <p:cNvSpPr/>
          <p:nvPr/>
        </p:nvSpPr>
        <p:spPr>
          <a:xfrm>
            <a:off x="9253728" y="4617720"/>
            <a:ext cx="64008" cy="64008"/>
          </a:xfrm>
          <a:prstGeom prst="ellipse">
            <a:avLst/>
          </a:prstGeom>
          <a:solidFill>
            <a:srgbClr val="1B98A0"/>
          </a:solidFill>
          <a:ln/>
        </p:spPr>
      </p:sp>
      <p:sp>
        <p:nvSpPr>
          <p:cNvPr id="52" name="Text 43"/>
          <p:cNvSpPr/>
          <p:nvPr/>
        </p:nvSpPr>
        <p:spPr>
          <a:xfrm>
            <a:off x="9418320" y="4535424"/>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Visualization interface</a:t>
            </a:r>
            <a:endParaRPr lang="en-US" sz="1000" dirty="0"/>
          </a:p>
        </p:txBody>
      </p:sp>
      <p:sp>
        <p:nvSpPr>
          <p:cNvPr id="53" name="Shape 44"/>
          <p:cNvSpPr/>
          <p:nvPr/>
        </p:nvSpPr>
        <p:spPr>
          <a:xfrm>
            <a:off x="9253728" y="5239512"/>
            <a:ext cx="64008" cy="64008"/>
          </a:xfrm>
          <a:prstGeom prst="ellipse">
            <a:avLst/>
          </a:prstGeom>
          <a:solidFill>
            <a:srgbClr val="1B98A0"/>
          </a:solidFill>
          <a:ln/>
        </p:spPr>
      </p:sp>
      <p:sp>
        <p:nvSpPr>
          <p:cNvPr id="54" name="Text 45"/>
          <p:cNvSpPr/>
          <p:nvPr/>
        </p:nvSpPr>
        <p:spPr>
          <a:xfrm>
            <a:off x="9418320" y="5157216"/>
            <a:ext cx="2194560" cy="502920"/>
          </a:xfrm>
          <a:prstGeom prst="rect">
            <a:avLst/>
          </a:prstGeom>
          <a:noFill/>
          <a:ln/>
        </p:spPr>
        <p:txBody>
          <a:bodyPr wrap="square" rtlCol="0" anchor="ctr"/>
          <a:lstStyle/>
          <a:p>
            <a:pPr indent="0" marL="0">
              <a:lnSpc>
                <a:spcPts val="1200"/>
              </a:lnSpc>
              <a:buNone/>
            </a:pPr>
            <a:r>
              <a:rPr lang="en-US" sz="1000" dirty="0">
                <a:solidFill>
                  <a:srgbClr val="DCE9F1"/>
                </a:solidFill>
                <a:latin typeface="Calibri" pitchFamily="34" charset="0"/>
                <a:ea typeface="Calibri" pitchFamily="34" charset="-122"/>
                <a:cs typeface="Calibri" pitchFamily="34" charset="-120"/>
              </a:rPr>
              <a:t>Clinician review report</a:t>
            </a:r>
            <a:endParaRPr lang="en-US" sz="1000" dirty="0"/>
          </a:p>
        </p:txBody>
      </p:sp>
      <p:sp>
        <p:nvSpPr>
          <p:cNvPr id="55" name="Text 46"/>
          <p:cNvSpPr/>
          <p:nvPr/>
        </p:nvSpPr>
        <p:spPr>
          <a:xfrm>
            <a:off x="548640" y="6263640"/>
            <a:ext cx="11064240" cy="365760"/>
          </a:xfrm>
          <a:prstGeom prst="rect">
            <a:avLst/>
          </a:prstGeom>
          <a:noFill/>
          <a:ln/>
        </p:spPr>
        <p:txBody>
          <a:bodyPr wrap="square" rtlCol="0" anchor="ctr"/>
          <a:lstStyle/>
          <a:p>
            <a:pPr indent="0" marL="0">
              <a:buNone/>
            </a:pPr>
            <a:r>
              <a:rPr lang="en-US" sz="1100" i="1" dirty="0">
                <a:solidFill>
                  <a:srgbClr val="9FB4C4"/>
                </a:solidFill>
                <a:latin typeface="Calibri" pitchFamily="34" charset="0"/>
                <a:ea typeface="Calibri" pitchFamily="34" charset="-122"/>
                <a:cs typeface="Calibri" pitchFamily="34" charset="-120"/>
              </a:rPr>
              <a:t>A shared segmentation backbone feeds both the osteoarthritis-assessment and implant-sizing workflows, with every output traceable back to source imaging.</a:t>
            </a:r>
            <a:endParaRPr lang="en-US" sz="1100" dirty="0"/>
          </a:p>
        </p:txBody>
      </p:sp>
      <p:sp>
        <p:nvSpPr>
          <p:cNvPr id="56" name="Text 47"/>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FB4C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9"/>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13707A"/>
                </a:solidFill>
                <a:latin typeface="Calibri" pitchFamily="34" charset="0"/>
                <a:ea typeface="Calibri" pitchFamily="34" charset="-122"/>
                <a:cs typeface="Calibri" pitchFamily="34" charset="-120"/>
              </a:rPr>
              <a:t>TRUST &amp; TRANSPARENCY</a:t>
            </a:r>
            <a:endParaRPr lang="en-US" sz="1200" dirty="0"/>
          </a:p>
        </p:txBody>
      </p:sp>
      <p:sp>
        <p:nvSpPr>
          <p:cNvPr id="3" name="Text 1"/>
          <p:cNvSpPr/>
          <p:nvPr/>
        </p:nvSpPr>
        <p:spPr>
          <a:xfrm>
            <a:off x="548640" y="822960"/>
            <a:ext cx="11064240" cy="822960"/>
          </a:xfrm>
          <a:prstGeom prst="rect">
            <a:avLst/>
          </a:prstGeom>
          <a:noFill/>
          <a:ln/>
        </p:spPr>
        <p:txBody>
          <a:bodyPr wrap="square" rtlCol="0" anchor="ctr"/>
          <a:lstStyle/>
          <a:p>
            <a:pPr indent="0" marL="0">
              <a:buNone/>
            </a:pPr>
            <a:r>
              <a:rPr lang="en-US" sz="2700" b="1" dirty="0">
                <a:solidFill>
                  <a:srgbClr val="0B2E4F"/>
                </a:solidFill>
                <a:latin typeface="Cambria" pitchFamily="34" charset="0"/>
                <a:ea typeface="Cambria" pitchFamily="34" charset="-122"/>
                <a:cs typeface="Cambria" pitchFamily="34" charset="-120"/>
              </a:rPr>
              <a:t>Every Recommendation Comes With an Explanation</a:t>
            </a:r>
            <a:endParaRPr lang="en-US" sz="2700" dirty="0"/>
          </a:p>
        </p:txBody>
      </p:sp>
      <p:sp>
        <p:nvSpPr>
          <p:cNvPr id="4" name="Text 2"/>
          <p:cNvSpPr/>
          <p:nvPr/>
        </p:nvSpPr>
        <p:spPr>
          <a:xfrm>
            <a:off x="548640" y="1508760"/>
            <a:ext cx="10789920" cy="594360"/>
          </a:xfrm>
          <a:prstGeom prst="rect">
            <a:avLst/>
          </a:prstGeom>
          <a:noFill/>
          <a:ln/>
        </p:spPr>
        <p:txBody>
          <a:bodyPr wrap="square" rtlCol="0" anchor="ctr"/>
          <a:lstStyle/>
          <a:p>
            <a:pPr indent="0" marL="0">
              <a:lnSpc>
                <a:spcPts val="1900"/>
              </a:lnSpc>
              <a:buNone/>
            </a:pPr>
            <a:r>
              <a:rPr lang="en-US" sz="1350" dirty="0">
                <a:solidFill>
                  <a:srgbClr val="5B6B7A"/>
                </a:solidFill>
                <a:latin typeface="Calibri" pitchFamily="34" charset="0"/>
                <a:ea typeface="Calibri" pitchFamily="34" charset="-122"/>
                <a:cs typeface="Calibri" pitchFamily="34" charset="-120"/>
              </a:rPr>
              <a:t>The platform is a decision-support and research tool, not a diagnostic replacement. Every measurement and recommendation is visualized on the source image so clinicians can verify — not just trust — the output.</a:t>
            </a:r>
            <a:endParaRPr lang="en-US" sz="1350" dirty="0"/>
          </a:p>
        </p:txBody>
      </p:sp>
      <p:sp>
        <p:nvSpPr>
          <p:cNvPr id="5" name="Shape 3"/>
          <p:cNvSpPr/>
          <p:nvPr/>
        </p:nvSpPr>
        <p:spPr>
          <a:xfrm>
            <a:off x="548640" y="2331720"/>
            <a:ext cx="5623560" cy="3931920"/>
          </a:xfrm>
          <a:prstGeom prst="roundRect">
            <a:avLst>
              <a:gd name="adj" fmla="val 2791"/>
            </a:avLst>
          </a:prstGeom>
          <a:solidFill>
            <a:srgbClr val="FFFFFF"/>
          </a:solidFill>
          <a:ln w="12700">
            <a:solidFill>
              <a:srgbClr val="DCE6E8"/>
            </a:solidFill>
            <a:prstDash val="solid"/>
          </a:ln>
        </p:spPr>
      </p:sp>
      <p:sp>
        <p:nvSpPr>
          <p:cNvPr id="6" name="Text 4"/>
          <p:cNvSpPr/>
          <p:nvPr/>
        </p:nvSpPr>
        <p:spPr>
          <a:xfrm>
            <a:off x="868680" y="2606040"/>
            <a:ext cx="5029200" cy="274320"/>
          </a:xfrm>
          <a:prstGeom prst="rect">
            <a:avLst/>
          </a:prstGeom>
          <a:noFill/>
          <a:ln/>
        </p:spPr>
        <p:txBody>
          <a:bodyPr wrap="square" rtlCol="0" anchor="ctr"/>
          <a:lstStyle/>
          <a:p>
            <a:pPr indent="0" marL="0">
              <a:buNone/>
            </a:pPr>
            <a:r>
              <a:rPr lang="en-US" sz="1100" b="1" spc="150" kern="0" dirty="0">
                <a:solidFill>
                  <a:srgbClr val="13707A"/>
                </a:solidFill>
                <a:latin typeface="Calibri" pitchFamily="34" charset="0"/>
                <a:ea typeface="Calibri" pitchFamily="34" charset="-122"/>
                <a:cs typeface="Calibri" pitchFamily="34" charset="-120"/>
              </a:rPr>
              <a:t>RECOMMENDED IMPLANT CATEGORY</a:t>
            </a:r>
            <a:endParaRPr lang="en-US" sz="1100" dirty="0"/>
          </a:p>
        </p:txBody>
      </p:sp>
      <p:sp>
        <p:nvSpPr>
          <p:cNvPr id="7" name="Text 5"/>
          <p:cNvSpPr/>
          <p:nvPr/>
        </p:nvSpPr>
        <p:spPr>
          <a:xfrm>
            <a:off x="868680" y="2880360"/>
            <a:ext cx="4572000" cy="685800"/>
          </a:xfrm>
          <a:prstGeom prst="rect">
            <a:avLst/>
          </a:prstGeom>
          <a:noFill/>
          <a:ln/>
        </p:spPr>
        <p:txBody>
          <a:bodyPr wrap="square" rtlCol="0" anchor="ctr"/>
          <a:lstStyle/>
          <a:p>
            <a:pPr indent="0" marL="0">
              <a:buNone/>
            </a:pPr>
            <a:r>
              <a:rPr lang="en-US" sz="3400" b="1" dirty="0">
                <a:solidFill>
                  <a:srgbClr val="0B2E4F"/>
                </a:solidFill>
                <a:latin typeface="Cambria" pitchFamily="34" charset="0"/>
                <a:ea typeface="Cambria" pitchFamily="34" charset="-122"/>
                <a:cs typeface="Cambria" pitchFamily="34" charset="-120"/>
              </a:rPr>
              <a:t>Medium</a:t>
            </a:r>
            <a:endParaRPr lang="en-US" sz="3400" dirty="0"/>
          </a:p>
        </p:txBody>
      </p:sp>
      <p:sp>
        <p:nvSpPr>
          <p:cNvPr id="8" name="Text 6"/>
          <p:cNvSpPr/>
          <p:nvPr/>
        </p:nvSpPr>
        <p:spPr>
          <a:xfrm>
            <a:off x="868680" y="3520440"/>
            <a:ext cx="5029200" cy="365760"/>
          </a:xfrm>
          <a:prstGeom prst="rect">
            <a:avLst/>
          </a:prstGeom>
          <a:noFill/>
          <a:ln/>
        </p:spPr>
        <p:txBody>
          <a:bodyPr wrap="square"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Based on measured anatomical dimensions and thickness profile.</a:t>
            </a:r>
            <a:endParaRPr lang="en-US" sz="1150" dirty="0"/>
          </a:p>
        </p:txBody>
      </p:sp>
      <p:sp>
        <p:nvSpPr>
          <p:cNvPr id="9" name="Shape 7"/>
          <p:cNvSpPr/>
          <p:nvPr/>
        </p:nvSpPr>
        <p:spPr>
          <a:xfrm>
            <a:off x="868680" y="4023360"/>
            <a:ext cx="4983480" cy="0"/>
          </a:xfrm>
          <a:prstGeom prst="line">
            <a:avLst/>
          </a:prstGeom>
          <a:noFill/>
          <a:ln w="12700">
            <a:solidFill>
              <a:srgbClr val="DCE6E8"/>
            </a:solidFill>
            <a:prstDash val="solid"/>
          </a:ln>
        </p:spPr>
      </p:sp>
      <p:sp>
        <p:nvSpPr>
          <p:cNvPr id="10" name="Text 8"/>
          <p:cNvSpPr/>
          <p:nvPr/>
        </p:nvSpPr>
        <p:spPr>
          <a:xfrm>
            <a:off x="868680" y="4160520"/>
            <a:ext cx="4572000" cy="274320"/>
          </a:xfrm>
          <a:prstGeom prst="rect">
            <a:avLst/>
          </a:prstGeom>
          <a:noFill/>
          <a:ln/>
        </p:spPr>
        <p:txBody>
          <a:bodyPr wrap="square" rtlCol="0" anchor="ctr"/>
          <a:lstStyle/>
          <a:p>
            <a:pPr indent="0" marL="0">
              <a:buNone/>
            </a:pPr>
            <a:r>
              <a:rPr lang="en-US" sz="1150" b="1" dirty="0">
                <a:solidFill>
                  <a:srgbClr val="16283A"/>
                </a:solidFill>
                <a:latin typeface="Calibri" pitchFamily="34" charset="0"/>
                <a:ea typeface="Calibri" pitchFamily="34" charset="-122"/>
                <a:cs typeface="Calibri" pitchFamily="34" charset="-120"/>
              </a:rPr>
              <a:t>WHY THIS RECOMMENDATION?</a:t>
            </a:r>
            <a:endParaRPr lang="en-US" sz="1150" dirty="0"/>
          </a:p>
        </p:txBody>
      </p:sp>
      <p:sp>
        <p:nvSpPr>
          <p:cNvPr id="11" name="Shape 9"/>
          <p:cNvSpPr/>
          <p:nvPr/>
        </p:nvSpPr>
        <p:spPr>
          <a:xfrm>
            <a:off x="886968" y="4572000"/>
            <a:ext cx="329184" cy="329184"/>
          </a:xfrm>
          <a:prstGeom prst="ellipse">
            <a:avLst/>
          </a:prstGeom>
          <a:solidFill>
            <a:srgbClr val="E3F4F4"/>
          </a:solidFill>
          <a:ln/>
        </p:spPr>
      </p:sp>
      <p:pic>
        <p:nvPicPr>
          <p:cNvPr id="12" name="Image 0" descr="icons/check_teal.png">    </p:cNvPr>
          <p:cNvPicPr>
            <a:picLocks noChangeAspect="1"/>
          </p:cNvPicPr>
          <p:nvPr/>
        </p:nvPicPr>
        <p:blipFill>
          <a:blip r:embed="rId1"/>
          <a:stretch>
            <a:fillRect/>
          </a:stretch>
        </p:blipFill>
        <p:spPr>
          <a:xfrm>
            <a:off x="965972" y="4651004"/>
            <a:ext cx="171176" cy="171176"/>
          </a:xfrm>
          <a:prstGeom prst="rect">
            <a:avLst/>
          </a:prstGeom>
        </p:spPr>
      </p:pic>
      <p:sp>
        <p:nvSpPr>
          <p:cNvPr id="13" name="Text 10"/>
          <p:cNvSpPr/>
          <p:nvPr/>
        </p:nvSpPr>
        <p:spPr>
          <a:xfrm>
            <a:off x="1325880" y="4572000"/>
            <a:ext cx="2834640" cy="329184"/>
          </a:xfrm>
          <a:prstGeom prst="rect">
            <a:avLst/>
          </a:prstGeom>
          <a:noFill/>
          <a:ln/>
        </p:spPr>
        <p:txBody>
          <a:bodyPr wrap="square" rtlCol="0" anchor="ctr"/>
          <a:lstStyle/>
          <a:p>
            <a:pPr indent="0" marL="0">
              <a:buNone/>
            </a:pPr>
            <a:r>
              <a:rPr lang="en-US" sz="1200" dirty="0">
                <a:solidFill>
                  <a:srgbClr val="16283A"/>
                </a:solidFill>
                <a:latin typeface="Calibri" pitchFamily="34" charset="0"/>
                <a:ea typeface="Calibri" pitchFamily="34" charset="-122"/>
                <a:cs typeface="Calibri" pitchFamily="34" charset="-120"/>
              </a:rPr>
              <a:t>AP dimension</a:t>
            </a:r>
            <a:endParaRPr lang="en-US" sz="1200" dirty="0"/>
          </a:p>
        </p:txBody>
      </p:sp>
      <p:sp>
        <p:nvSpPr>
          <p:cNvPr id="14" name="Text 11"/>
          <p:cNvSpPr/>
          <p:nvPr/>
        </p:nvSpPr>
        <p:spPr>
          <a:xfrm>
            <a:off x="4206240" y="4572000"/>
            <a:ext cx="1645920" cy="329184"/>
          </a:xfrm>
          <a:prstGeom prst="rect">
            <a:avLst/>
          </a:prstGeom>
          <a:noFill/>
          <a:ln/>
        </p:spPr>
        <p:txBody>
          <a:bodyPr wrap="square" rtlCol="0" anchor="ctr"/>
          <a:lstStyle/>
          <a:p>
            <a:pPr algn="r" indent="0" marL="0">
              <a:buNone/>
            </a:pPr>
            <a:r>
              <a:rPr lang="en-US" sz="1200" b="1" dirty="0">
                <a:solidFill>
                  <a:srgbClr val="13707A"/>
                </a:solidFill>
                <a:latin typeface="Calibri" pitchFamily="34" charset="0"/>
                <a:ea typeface="Calibri" pitchFamily="34" charset="-122"/>
                <a:cs typeface="Calibri" pitchFamily="34" charset="-120"/>
              </a:rPr>
              <a:t>58.4 mm</a:t>
            </a:r>
            <a:endParaRPr lang="en-US" sz="1200" dirty="0"/>
          </a:p>
        </p:txBody>
      </p:sp>
      <p:sp>
        <p:nvSpPr>
          <p:cNvPr id="15" name="Shape 12"/>
          <p:cNvSpPr/>
          <p:nvPr/>
        </p:nvSpPr>
        <p:spPr>
          <a:xfrm>
            <a:off x="886968" y="4992624"/>
            <a:ext cx="329184" cy="329184"/>
          </a:xfrm>
          <a:prstGeom prst="ellipse">
            <a:avLst/>
          </a:prstGeom>
          <a:solidFill>
            <a:srgbClr val="E3F4F4"/>
          </a:solidFill>
          <a:ln/>
        </p:spPr>
      </p:sp>
      <p:pic>
        <p:nvPicPr>
          <p:cNvPr id="16" name="Image 1" descr="icons/check_teal.png">    </p:cNvPr>
          <p:cNvPicPr>
            <a:picLocks noChangeAspect="1"/>
          </p:cNvPicPr>
          <p:nvPr/>
        </p:nvPicPr>
        <p:blipFill>
          <a:blip r:embed="rId2"/>
          <a:stretch>
            <a:fillRect/>
          </a:stretch>
        </p:blipFill>
        <p:spPr>
          <a:xfrm>
            <a:off x="965972" y="5071628"/>
            <a:ext cx="171176" cy="171176"/>
          </a:xfrm>
          <a:prstGeom prst="rect">
            <a:avLst/>
          </a:prstGeom>
        </p:spPr>
      </p:pic>
      <p:sp>
        <p:nvSpPr>
          <p:cNvPr id="17" name="Text 13"/>
          <p:cNvSpPr/>
          <p:nvPr/>
        </p:nvSpPr>
        <p:spPr>
          <a:xfrm>
            <a:off x="1325880" y="4992624"/>
            <a:ext cx="2834640" cy="329184"/>
          </a:xfrm>
          <a:prstGeom prst="rect">
            <a:avLst/>
          </a:prstGeom>
          <a:noFill/>
          <a:ln/>
        </p:spPr>
        <p:txBody>
          <a:bodyPr wrap="square" rtlCol="0" anchor="ctr"/>
          <a:lstStyle/>
          <a:p>
            <a:pPr indent="0" marL="0">
              <a:buNone/>
            </a:pPr>
            <a:r>
              <a:rPr lang="en-US" sz="1200" dirty="0">
                <a:solidFill>
                  <a:srgbClr val="16283A"/>
                </a:solidFill>
                <a:latin typeface="Calibri" pitchFamily="34" charset="0"/>
                <a:ea typeface="Calibri" pitchFamily="34" charset="-122"/>
                <a:cs typeface="Calibri" pitchFamily="34" charset="-120"/>
              </a:rPr>
              <a:t>ML dimension</a:t>
            </a:r>
            <a:endParaRPr lang="en-US" sz="1200" dirty="0"/>
          </a:p>
        </p:txBody>
      </p:sp>
      <p:sp>
        <p:nvSpPr>
          <p:cNvPr id="18" name="Text 14"/>
          <p:cNvSpPr/>
          <p:nvPr/>
        </p:nvSpPr>
        <p:spPr>
          <a:xfrm>
            <a:off x="4206240" y="4992624"/>
            <a:ext cx="1645920" cy="329184"/>
          </a:xfrm>
          <a:prstGeom prst="rect">
            <a:avLst/>
          </a:prstGeom>
          <a:noFill/>
          <a:ln/>
        </p:spPr>
        <p:txBody>
          <a:bodyPr wrap="square" rtlCol="0" anchor="ctr"/>
          <a:lstStyle/>
          <a:p>
            <a:pPr algn="r" indent="0" marL="0">
              <a:buNone/>
            </a:pPr>
            <a:r>
              <a:rPr lang="en-US" sz="1200" b="1" dirty="0">
                <a:solidFill>
                  <a:srgbClr val="13707A"/>
                </a:solidFill>
                <a:latin typeface="Calibri" pitchFamily="34" charset="0"/>
                <a:ea typeface="Calibri" pitchFamily="34" charset="-122"/>
                <a:cs typeface="Calibri" pitchFamily="34" charset="-120"/>
              </a:rPr>
              <a:t>64.1 mm</a:t>
            </a:r>
            <a:endParaRPr lang="en-US" sz="1200" dirty="0"/>
          </a:p>
        </p:txBody>
      </p:sp>
      <p:sp>
        <p:nvSpPr>
          <p:cNvPr id="19" name="Shape 15"/>
          <p:cNvSpPr/>
          <p:nvPr/>
        </p:nvSpPr>
        <p:spPr>
          <a:xfrm>
            <a:off x="886968" y="5413248"/>
            <a:ext cx="329184" cy="329184"/>
          </a:xfrm>
          <a:prstGeom prst="ellipse">
            <a:avLst/>
          </a:prstGeom>
          <a:solidFill>
            <a:srgbClr val="E3F4F4"/>
          </a:solidFill>
          <a:ln/>
        </p:spPr>
      </p:sp>
      <p:pic>
        <p:nvPicPr>
          <p:cNvPr id="20" name="Image 2" descr="icons/check_teal.png">    </p:cNvPr>
          <p:cNvPicPr>
            <a:picLocks noChangeAspect="1"/>
          </p:cNvPicPr>
          <p:nvPr/>
        </p:nvPicPr>
        <p:blipFill>
          <a:blip r:embed="rId3"/>
          <a:stretch>
            <a:fillRect/>
          </a:stretch>
        </p:blipFill>
        <p:spPr>
          <a:xfrm>
            <a:off x="965972" y="5492252"/>
            <a:ext cx="171176" cy="171176"/>
          </a:xfrm>
          <a:prstGeom prst="rect">
            <a:avLst/>
          </a:prstGeom>
        </p:spPr>
      </p:pic>
      <p:sp>
        <p:nvSpPr>
          <p:cNvPr id="21" name="Text 16"/>
          <p:cNvSpPr/>
          <p:nvPr/>
        </p:nvSpPr>
        <p:spPr>
          <a:xfrm>
            <a:off x="1325880" y="5413248"/>
            <a:ext cx="2834640" cy="329184"/>
          </a:xfrm>
          <a:prstGeom prst="rect">
            <a:avLst/>
          </a:prstGeom>
          <a:noFill/>
          <a:ln/>
        </p:spPr>
        <p:txBody>
          <a:bodyPr wrap="square" rtlCol="0" anchor="ctr"/>
          <a:lstStyle/>
          <a:p>
            <a:pPr indent="0" marL="0">
              <a:buNone/>
            </a:pPr>
            <a:r>
              <a:rPr lang="en-US" sz="1200" dirty="0">
                <a:solidFill>
                  <a:srgbClr val="16283A"/>
                </a:solidFill>
                <a:latin typeface="Calibri" pitchFamily="34" charset="0"/>
                <a:ea typeface="Calibri" pitchFamily="34" charset="-122"/>
                <a:cs typeface="Calibri" pitchFamily="34" charset="-120"/>
              </a:rPr>
              <a:t>Thickness</a:t>
            </a:r>
            <a:endParaRPr lang="en-US" sz="1200" dirty="0"/>
          </a:p>
        </p:txBody>
      </p:sp>
      <p:sp>
        <p:nvSpPr>
          <p:cNvPr id="22" name="Text 17"/>
          <p:cNvSpPr/>
          <p:nvPr/>
        </p:nvSpPr>
        <p:spPr>
          <a:xfrm>
            <a:off x="4206240" y="5413248"/>
            <a:ext cx="1645920" cy="329184"/>
          </a:xfrm>
          <a:prstGeom prst="rect">
            <a:avLst/>
          </a:prstGeom>
          <a:noFill/>
          <a:ln/>
        </p:spPr>
        <p:txBody>
          <a:bodyPr wrap="square" rtlCol="0" anchor="ctr"/>
          <a:lstStyle/>
          <a:p>
            <a:pPr algn="r" indent="0" marL="0">
              <a:buNone/>
            </a:pPr>
            <a:r>
              <a:rPr lang="en-US" sz="1200" b="1" dirty="0">
                <a:solidFill>
                  <a:srgbClr val="13707A"/>
                </a:solidFill>
                <a:latin typeface="Calibri" pitchFamily="34" charset="0"/>
                <a:ea typeface="Calibri" pitchFamily="34" charset="-122"/>
                <a:cs typeface="Calibri" pitchFamily="34" charset="-120"/>
              </a:rPr>
              <a:t>4.6 mm</a:t>
            </a:r>
            <a:endParaRPr lang="en-US" sz="1200" dirty="0"/>
          </a:p>
        </p:txBody>
      </p:sp>
      <p:sp>
        <p:nvSpPr>
          <p:cNvPr id="23" name="Shape 18"/>
          <p:cNvSpPr/>
          <p:nvPr/>
        </p:nvSpPr>
        <p:spPr>
          <a:xfrm>
            <a:off x="886968" y="5833872"/>
            <a:ext cx="329184" cy="329184"/>
          </a:xfrm>
          <a:prstGeom prst="ellipse">
            <a:avLst/>
          </a:prstGeom>
          <a:solidFill>
            <a:srgbClr val="E3F4F4"/>
          </a:solidFill>
          <a:ln/>
        </p:spPr>
      </p:sp>
      <p:pic>
        <p:nvPicPr>
          <p:cNvPr id="24" name="Image 3" descr="icons/check_teal.png">    </p:cNvPr>
          <p:cNvPicPr>
            <a:picLocks noChangeAspect="1"/>
          </p:cNvPicPr>
          <p:nvPr/>
        </p:nvPicPr>
        <p:blipFill>
          <a:blip r:embed="rId4"/>
          <a:stretch>
            <a:fillRect/>
          </a:stretch>
        </p:blipFill>
        <p:spPr>
          <a:xfrm>
            <a:off x="965972" y="5912876"/>
            <a:ext cx="171176" cy="171176"/>
          </a:xfrm>
          <a:prstGeom prst="rect">
            <a:avLst/>
          </a:prstGeom>
        </p:spPr>
      </p:pic>
      <p:sp>
        <p:nvSpPr>
          <p:cNvPr id="25" name="Text 19"/>
          <p:cNvSpPr/>
          <p:nvPr/>
        </p:nvSpPr>
        <p:spPr>
          <a:xfrm>
            <a:off x="1325880" y="5833872"/>
            <a:ext cx="2834640" cy="329184"/>
          </a:xfrm>
          <a:prstGeom prst="rect">
            <a:avLst/>
          </a:prstGeom>
          <a:noFill/>
          <a:ln/>
        </p:spPr>
        <p:txBody>
          <a:bodyPr wrap="square" rtlCol="0" anchor="ctr"/>
          <a:lstStyle/>
          <a:p>
            <a:pPr indent="0" marL="0">
              <a:buNone/>
            </a:pPr>
            <a:r>
              <a:rPr lang="en-US" sz="1200" dirty="0">
                <a:solidFill>
                  <a:srgbClr val="16283A"/>
                </a:solidFill>
                <a:latin typeface="Calibri" pitchFamily="34" charset="0"/>
                <a:ea typeface="Calibri" pitchFamily="34" charset="-122"/>
                <a:cs typeface="Calibri" pitchFamily="34" charset="-120"/>
              </a:rPr>
              <a:t>Geometry compatibility</a:t>
            </a:r>
            <a:endParaRPr lang="en-US" sz="1200" dirty="0"/>
          </a:p>
        </p:txBody>
      </p:sp>
      <p:sp>
        <p:nvSpPr>
          <p:cNvPr id="26" name="Text 20"/>
          <p:cNvSpPr/>
          <p:nvPr/>
        </p:nvSpPr>
        <p:spPr>
          <a:xfrm>
            <a:off x="4206240" y="5833872"/>
            <a:ext cx="1645920" cy="329184"/>
          </a:xfrm>
          <a:prstGeom prst="rect">
            <a:avLst/>
          </a:prstGeom>
          <a:noFill/>
          <a:ln/>
        </p:spPr>
        <p:txBody>
          <a:bodyPr wrap="square" rtlCol="0" anchor="ctr"/>
          <a:lstStyle/>
          <a:p>
            <a:pPr algn="r" indent="0" marL="0">
              <a:buNone/>
            </a:pPr>
            <a:r>
              <a:rPr lang="en-US" sz="1200" b="1" dirty="0">
                <a:solidFill>
                  <a:srgbClr val="13707A"/>
                </a:solidFill>
                <a:latin typeface="Calibri" pitchFamily="34" charset="0"/>
                <a:ea typeface="Calibri" pitchFamily="34" charset="-122"/>
                <a:cs typeface="Calibri" pitchFamily="34" charset="-120"/>
              </a:rPr>
              <a:t>High</a:t>
            </a:r>
            <a:endParaRPr lang="en-US" sz="1200" dirty="0"/>
          </a:p>
        </p:txBody>
      </p:sp>
      <p:sp>
        <p:nvSpPr>
          <p:cNvPr id="27" name="Text 21"/>
          <p:cNvSpPr/>
          <p:nvPr/>
        </p:nvSpPr>
        <p:spPr>
          <a:xfrm>
            <a:off x="6400800" y="2331720"/>
            <a:ext cx="5029200" cy="274320"/>
          </a:xfrm>
          <a:prstGeom prst="rect">
            <a:avLst/>
          </a:prstGeom>
          <a:noFill/>
          <a:ln/>
        </p:spPr>
        <p:txBody>
          <a:bodyPr wrap="square" rtlCol="0" anchor="ctr"/>
          <a:lstStyle/>
          <a:p>
            <a:pPr indent="0" marL="0">
              <a:buNone/>
            </a:pPr>
            <a:r>
              <a:rPr lang="en-US" sz="1200" b="1" spc="150" kern="0" dirty="0">
                <a:solidFill>
                  <a:srgbClr val="FF6F59"/>
                </a:solidFill>
                <a:latin typeface="Calibri" pitchFamily="34" charset="0"/>
                <a:ea typeface="Calibri" pitchFamily="34" charset="-122"/>
                <a:cs typeface="Calibri" pitchFamily="34" charset="-120"/>
              </a:rPr>
              <a:t>DESIGN PRINCIPLES</a:t>
            </a:r>
            <a:endParaRPr lang="en-US" sz="1200" dirty="0"/>
          </a:p>
        </p:txBody>
      </p:sp>
      <p:sp>
        <p:nvSpPr>
          <p:cNvPr id="28" name="Shape 22"/>
          <p:cNvSpPr/>
          <p:nvPr/>
        </p:nvSpPr>
        <p:spPr>
          <a:xfrm>
            <a:off x="6446520" y="2779776"/>
            <a:ext cx="548640" cy="548640"/>
          </a:xfrm>
          <a:prstGeom prst="ellipse">
            <a:avLst/>
          </a:prstGeom>
          <a:solidFill>
            <a:srgbClr val="E3F4F4"/>
          </a:solidFill>
          <a:ln/>
        </p:spPr>
      </p:sp>
      <p:pic>
        <p:nvPicPr>
          <p:cNvPr id="29" name="Image 4" descr="icons/eye_teal.png">    </p:cNvPr>
          <p:cNvPicPr>
            <a:picLocks noChangeAspect="1"/>
          </p:cNvPicPr>
          <p:nvPr/>
        </p:nvPicPr>
        <p:blipFill>
          <a:blip r:embed="rId5"/>
          <a:stretch>
            <a:fillRect/>
          </a:stretch>
        </p:blipFill>
        <p:spPr>
          <a:xfrm>
            <a:off x="6578194" y="2911450"/>
            <a:ext cx="285293" cy="285293"/>
          </a:xfrm>
          <a:prstGeom prst="rect">
            <a:avLst/>
          </a:prstGeom>
        </p:spPr>
      </p:pic>
      <p:sp>
        <p:nvSpPr>
          <p:cNvPr id="30" name="Text 23"/>
          <p:cNvSpPr/>
          <p:nvPr/>
        </p:nvSpPr>
        <p:spPr>
          <a:xfrm>
            <a:off x="7132320" y="2761488"/>
            <a:ext cx="4206240" cy="292608"/>
          </a:xfrm>
          <a:prstGeom prst="rect">
            <a:avLst/>
          </a:prstGeom>
          <a:noFill/>
          <a:ln/>
        </p:spPr>
        <p:txBody>
          <a:bodyPr wrap="square" rtlCol="0" anchor="ctr"/>
          <a:lstStyle/>
          <a:p>
            <a:pPr indent="0" marL="0">
              <a:buNone/>
            </a:pPr>
            <a:r>
              <a:rPr lang="en-US" sz="1300" b="1" dirty="0">
                <a:solidFill>
                  <a:srgbClr val="16283A"/>
                </a:solidFill>
                <a:latin typeface="Calibri" pitchFamily="34" charset="0"/>
                <a:ea typeface="Calibri" pitchFamily="34" charset="-122"/>
                <a:cs typeface="Calibri" pitchFamily="34" charset="-120"/>
              </a:rPr>
              <a:t>Visual Traceability</a:t>
            </a:r>
            <a:endParaRPr lang="en-US" sz="1300" dirty="0"/>
          </a:p>
        </p:txBody>
      </p:sp>
      <p:sp>
        <p:nvSpPr>
          <p:cNvPr id="31" name="Text 24"/>
          <p:cNvSpPr/>
          <p:nvPr/>
        </p:nvSpPr>
        <p:spPr>
          <a:xfrm>
            <a:off x="7132320" y="3063240"/>
            <a:ext cx="4206240" cy="50292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Detected structures &amp; measurement points overlaid directly on the MRI.</a:t>
            </a:r>
            <a:endParaRPr lang="en-US" sz="1050" dirty="0"/>
          </a:p>
        </p:txBody>
      </p:sp>
      <p:sp>
        <p:nvSpPr>
          <p:cNvPr id="32" name="Shape 25"/>
          <p:cNvSpPr/>
          <p:nvPr/>
        </p:nvSpPr>
        <p:spPr>
          <a:xfrm>
            <a:off x="6446520" y="3831336"/>
            <a:ext cx="548640" cy="548640"/>
          </a:xfrm>
          <a:prstGeom prst="ellipse">
            <a:avLst/>
          </a:prstGeom>
          <a:solidFill>
            <a:srgbClr val="E3F4F4"/>
          </a:solidFill>
          <a:ln/>
        </p:spPr>
      </p:sp>
      <p:pic>
        <p:nvPicPr>
          <p:cNvPr id="33" name="Image 5" descr="icons/doctor_teal.png">    </p:cNvPr>
          <p:cNvPicPr>
            <a:picLocks noChangeAspect="1"/>
          </p:cNvPicPr>
          <p:nvPr/>
        </p:nvPicPr>
        <p:blipFill>
          <a:blip r:embed="rId6"/>
          <a:stretch>
            <a:fillRect/>
          </a:stretch>
        </p:blipFill>
        <p:spPr>
          <a:xfrm>
            <a:off x="6578194" y="3963010"/>
            <a:ext cx="285293" cy="285293"/>
          </a:xfrm>
          <a:prstGeom prst="rect">
            <a:avLst/>
          </a:prstGeom>
        </p:spPr>
      </p:pic>
      <p:sp>
        <p:nvSpPr>
          <p:cNvPr id="34" name="Text 26"/>
          <p:cNvSpPr/>
          <p:nvPr/>
        </p:nvSpPr>
        <p:spPr>
          <a:xfrm>
            <a:off x="7132320" y="3813048"/>
            <a:ext cx="4206240" cy="292608"/>
          </a:xfrm>
          <a:prstGeom prst="rect">
            <a:avLst/>
          </a:prstGeom>
          <a:noFill/>
          <a:ln/>
        </p:spPr>
        <p:txBody>
          <a:bodyPr wrap="square" rtlCol="0" anchor="ctr"/>
          <a:lstStyle/>
          <a:p>
            <a:pPr indent="0" marL="0">
              <a:buNone/>
            </a:pPr>
            <a:r>
              <a:rPr lang="en-US" sz="1300" b="1" dirty="0">
                <a:solidFill>
                  <a:srgbClr val="16283A"/>
                </a:solidFill>
                <a:latin typeface="Calibri" pitchFamily="34" charset="0"/>
                <a:ea typeface="Calibri" pitchFamily="34" charset="-122"/>
                <a:cs typeface="Calibri" pitchFamily="34" charset="-120"/>
              </a:rPr>
              <a:t>Clinician-in-the-Loop</a:t>
            </a:r>
            <a:endParaRPr lang="en-US" sz="1300" dirty="0"/>
          </a:p>
        </p:txBody>
      </p:sp>
      <p:sp>
        <p:nvSpPr>
          <p:cNvPr id="35" name="Text 27"/>
          <p:cNvSpPr/>
          <p:nvPr/>
        </p:nvSpPr>
        <p:spPr>
          <a:xfrm>
            <a:off x="7132320" y="4114800"/>
            <a:ext cx="4206240" cy="50292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Outputs support review and decision-making — final calls stay with specialists.</a:t>
            </a:r>
            <a:endParaRPr lang="en-US" sz="1050" dirty="0"/>
          </a:p>
        </p:txBody>
      </p:sp>
      <p:sp>
        <p:nvSpPr>
          <p:cNvPr id="36" name="Shape 28"/>
          <p:cNvSpPr/>
          <p:nvPr/>
        </p:nvSpPr>
        <p:spPr>
          <a:xfrm>
            <a:off x="6446520" y="4882896"/>
            <a:ext cx="548640" cy="548640"/>
          </a:xfrm>
          <a:prstGeom prst="ellipse">
            <a:avLst/>
          </a:prstGeom>
          <a:solidFill>
            <a:srgbClr val="E3F4F4"/>
          </a:solidFill>
          <a:ln/>
        </p:spPr>
      </p:sp>
      <p:pic>
        <p:nvPicPr>
          <p:cNvPr id="37" name="Image 6" descr="icons/balance_teal.png">    </p:cNvPr>
          <p:cNvPicPr>
            <a:picLocks noChangeAspect="1"/>
          </p:cNvPicPr>
          <p:nvPr/>
        </p:nvPicPr>
        <p:blipFill>
          <a:blip r:embed="rId7"/>
          <a:stretch>
            <a:fillRect/>
          </a:stretch>
        </p:blipFill>
        <p:spPr>
          <a:xfrm>
            <a:off x="6578194" y="5014570"/>
            <a:ext cx="285293" cy="285293"/>
          </a:xfrm>
          <a:prstGeom prst="rect">
            <a:avLst/>
          </a:prstGeom>
        </p:spPr>
      </p:pic>
      <p:sp>
        <p:nvSpPr>
          <p:cNvPr id="38" name="Text 29"/>
          <p:cNvSpPr/>
          <p:nvPr/>
        </p:nvSpPr>
        <p:spPr>
          <a:xfrm>
            <a:off x="7132320" y="4864608"/>
            <a:ext cx="4206240" cy="292608"/>
          </a:xfrm>
          <a:prstGeom prst="rect">
            <a:avLst/>
          </a:prstGeom>
          <a:noFill/>
          <a:ln/>
        </p:spPr>
        <p:txBody>
          <a:bodyPr wrap="square" rtlCol="0" anchor="ctr"/>
          <a:lstStyle/>
          <a:p>
            <a:pPr indent="0" marL="0">
              <a:buNone/>
            </a:pPr>
            <a:r>
              <a:rPr lang="en-US" sz="1300" b="1" dirty="0">
                <a:solidFill>
                  <a:srgbClr val="16283A"/>
                </a:solidFill>
                <a:latin typeface="Calibri" pitchFamily="34" charset="0"/>
                <a:ea typeface="Calibri" pitchFamily="34" charset="-122"/>
                <a:cs typeface="Calibri" pitchFamily="34" charset="-120"/>
              </a:rPr>
              <a:t>Reproducible, Not Subjective</a:t>
            </a:r>
            <a:endParaRPr lang="en-US" sz="1300" dirty="0"/>
          </a:p>
        </p:txBody>
      </p:sp>
      <p:sp>
        <p:nvSpPr>
          <p:cNvPr id="39" name="Text 30"/>
          <p:cNvSpPr/>
          <p:nvPr/>
        </p:nvSpPr>
        <p:spPr>
          <a:xfrm>
            <a:off x="7132320" y="5166360"/>
            <a:ext cx="4206240" cy="502920"/>
          </a:xfrm>
          <a:prstGeom prst="rect">
            <a:avLst/>
          </a:prstGeom>
          <a:noFill/>
          <a:ln/>
        </p:spPr>
        <p:txBody>
          <a:bodyPr wrap="square" rtlCol="0" anchor="ctr"/>
          <a:lstStyle/>
          <a:p>
            <a:pPr indent="0" marL="0">
              <a:lnSpc>
                <a:spcPts val="1300"/>
              </a:lnSpc>
              <a:buNone/>
            </a:pPr>
            <a:r>
              <a:rPr lang="en-US" sz="1050" dirty="0">
                <a:solidFill>
                  <a:srgbClr val="5B6B7A"/>
                </a:solidFill>
                <a:latin typeface="Calibri" pitchFamily="34" charset="0"/>
                <a:ea typeface="Calibri" pitchFamily="34" charset="-122"/>
                <a:cs typeface="Calibri" pitchFamily="34" charset="-120"/>
              </a:rPr>
              <a:t>Same inputs yield the same standardized measurements every time.</a:t>
            </a:r>
            <a:endParaRPr lang="en-US" sz="1050" dirty="0"/>
          </a:p>
        </p:txBody>
      </p:sp>
      <p:sp>
        <p:nvSpPr>
          <p:cNvPr id="40" name="Text 31"/>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AA7B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E4F"/>
        </a:solidFill>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ln w="15875">
            <a:solidFill>
              <a:srgbClr val="163C5C"/>
            </a:solidFill>
            <a:prstDash val="solid"/>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200" b="1" spc="200" kern="0" dirty="0">
                <a:solidFill>
                  <a:srgbClr val="6FD6DB"/>
                </a:solidFill>
                <a:latin typeface="Calibri" pitchFamily="34" charset="0"/>
                <a:ea typeface="Calibri" pitchFamily="34" charset="-122"/>
                <a:cs typeface="Calibri" pitchFamily="34" charset="-120"/>
              </a:rPr>
              <a:t>IMPACT &amp; VISION</a:t>
            </a:r>
            <a:endParaRPr lang="en-US" sz="1200" dirty="0"/>
          </a:p>
        </p:txBody>
      </p:sp>
      <p:sp>
        <p:nvSpPr>
          <p:cNvPr id="4" name="Text 2"/>
          <p:cNvSpPr/>
          <p:nvPr/>
        </p:nvSpPr>
        <p:spPr>
          <a:xfrm>
            <a:off x="548640" y="868680"/>
            <a:ext cx="11064240" cy="8229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Reducing Manual Effort. Standardizing Measurement.</a:t>
            </a:r>
            <a:endParaRPr lang="en-US" sz="2600" dirty="0"/>
          </a:p>
          <a:p>
            <a:pPr indent="0" marL="0">
              <a:buNone/>
            </a:pPr>
            <a:r>
              <a:rPr lang="en-US" sz="2600" b="1" dirty="0">
                <a:solidFill>
                  <a:srgbClr val="FFFFFF"/>
                </a:solidFill>
                <a:latin typeface="Cambria" pitchFamily="34" charset="0"/>
                <a:ea typeface="Cambria" pitchFamily="34" charset="-122"/>
                <a:cs typeface="Cambria" pitchFamily="34" charset="-120"/>
              </a:rPr>
              <a:t>Supporting Better Decisions.</a:t>
            </a:r>
            <a:endParaRPr lang="en-US" sz="2600" dirty="0"/>
          </a:p>
        </p:txBody>
      </p:sp>
      <p:sp>
        <p:nvSpPr>
          <p:cNvPr id="5" name="Shape 3"/>
          <p:cNvSpPr/>
          <p:nvPr/>
        </p:nvSpPr>
        <p:spPr>
          <a:xfrm>
            <a:off x="548640" y="2514600"/>
            <a:ext cx="2697480" cy="2331720"/>
          </a:xfrm>
          <a:prstGeom prst="roundRect">
            <a:avLst>
              <a:gd name="adj" fmla="val 3922"/>
            </a:avLst>
          </a:prstGeom>
          <a:solidFill>
            <a:srgbClr val="0E2740"/>
          </a:solidFill>
          <a:ln w="12700">
            <a:solidFill>
              <a:srgbClr val="1E4E76"/>
            </a:solidFill>
            <a:prstDash val="solid"/>
          </a:ln>
        </p:spPr>
      </p:sp>
      <p:sp>
        <p:nvSpPr>
          <p:cNvPr id="6" name="Shape 4"/>
          <p:cNvSpPr/>
          <p:nvPr/>
        </p:nvSpPr>
        <p:spPr>
          <a:xfrm>
            <a:off x="1554480" y="2720340"/>
            <a:ext cx="685800" cy="685800"/>
          </a:xfrm>
          <a:prstGeom prst="ellipse">
            <a:avLst/>
          </a:prstGeom>
          <a:solidFill>
            <a:srgbClr val="12395A"/>
          </a:solidFill>
          <a:ln/>
        </p:spPr>
      </p:sp>
      <p:pic>
        <p:nvPicPr>
          <p:cNvPr id="7" name="Image 0" descr="icons/clock_teal.png">    </p:cNvPr>
          <p:cNvPicPr>
            <a:picLocks noChangeAspect="1"/>
          </p:cNvPicPr>
          <p:nvPr/>
        </p:nvPicPr>
        <p:blipFill>
          <a:blip r:embed="rId1"/>
          <a:stretch>
            <a:fillRect/>
          </a:stretch>
        </p:blipFill>
        <p:spPr>
          <a:xfrm>
            <a:off x="1719072" y="2884932"/>
            <a:ext cx="356616" cy="356616"/>
          </a:xfrm>
          <a:prstGeom prst="rect">
            <a:avLst/>
          </a:prstGeom>
        </p:spPr>
      </p:pic>
      <p:sp>
        <p:nvSpPr>
          <p:cNvPr id="8" name="Text 5"/>
          <p:cNvSpPr/>
          <p:nvPr/>
        </p:nvSpPr>
        <p:spPr>
          <a:xfrm>
            <a:off x="731520" y="3520440"/>
            <a:ext cx="233172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Efficiency</a:t>
            </a:r>
            <a:endParaRPr lang="en-US" sz="1350" dirty="0"/>
          </a:p>
        </p:txBody>
      </p:sp>
      <p:sp>
        <p:nvSpPr>
          <p:cNvPr id="9" name="Text 6"/>
          <p:cNvSpPr/>
          <p:nvPr/>
        </p:nvSpPr>
        <p:spPr>
          <a:xfrm>
            <a:off x="731520" y="3858768"/>
            <a:ext cx="2331720" cy="868680"/>
          </a:xfrm>
          <a:prstGeom prst="rect">
            <a:avLst/>
          </a:prstGeom>
          <a:noFill/>
          <a:ln/>
        </p:spPr>
        <p:txBody>
          <a:bodyPr wrap="square" rtlCol="0" anchor="ctr"/>
          <a:lstStyle/>
          <a:p>
            <a:pPr algn="ctr" indent="0" marL="0">
              <a:lnSpc>
                <a:spcPts val="1300"/>
              </a:lnSpc>
              <a:buNone/>
            </a:pPr>
            <a:r>
              <a:rPr lang="en-US" sz="1000" dirty="0">
                <a:solidFill>
                  <a:srgbClr val="AFC6D6"/>
                </a:solidFill>
                <a:latin typeface="Calibri" pitchFamily="34" charset="0"/>
                <a:ea typeface="Calibri" pitchFamily="34" charset="-122"/>
                <a:cs typeface="Calibri" pitchFamily="34" charset="-120"/>
              </a:rPr>
              <a:t>Less manual measurement time for radiologists and surgical planners.</a:t>
            </a:r>
            <a:endParaRPr lang="en-US" sz="1000" dirty="0"/>
          </a:p>
        </p:txBody>
      </p:sp>
      <p:sp>
        <p:nvSpPr>
          <p:cNvPr id="10" name="Shape 7"/>
          <p:cNvSpPr/>
          <p:nvPr/>
        </p:nvSpPr>
        <p:spPr>
          <a:xfrm>
            <a:off x="3410712" y="2514600"/>
            <a:ext cx="2697480" cy="2331720"/>
          </a:xfrm>
          <a:prstGeom prst="roundRect">
            <a:avLst>
              <a:gd name="adj" fmla="val 3922"/>
            </a:avLst>
          </a:prstGeom>
          <a:solidFill>
            <a:srgbClr val="0E2740"/>
          </a:solidFill>
          <a:ln w="12700">
            <a:solidFill>
              <a:srgbClr val="1E4E76"/>
            </a:solidFill>
            <a:prstDash val="solid"/>
          </a:ln>
        </p:spPr>
      </p:sp>
      <p:sp>
        <p:nvSpPr>
          <p:cNvPr id="11" name="Shape 8"/>
          <p:cNvSpPr/>
          <p:nvPr/>
        </p:nvSpPr>
        <p:spPr>
          <a:xfrm>
            <a:off x="4416552" y="2720340"/>
            <a:ext cx="685800" cy="685800"/>
          </a:xfrm>
          <a:prstGeom prst="ellipse">
            <a:avLst/>
          </a:prstGeom>
          <a:solidFill>
            <a:srgbClr val="12395A"/>
          </a:solidFill>
          <a:ln/>
        </p:spPr>
      </p:sp>
      <p:pic>
        <p:nvPicPr>
          <p:cNvPr id="12" name="Image 1" descr="icons/balance_teal.png">    </p:cNvPr>
          <p:cNvPicPr>
            <a:picLocks noChangeAspect="1"/>
          </p:cNvPicPr>
          <p:nvPr/>
        </p:nvPicPr>
        <p:blipFill>
          <a:blip r:embed="rId2"/>
          <a:stretch>
            <a:fillRect/>
          </a:stretch>
        </p:blipFill>
        <p:spPr>
          <a:xfrm>
            <a:off x="4581144" y="2884932"/>
            <a:ext cx="356616" cy="356616"/>
          </a:xfrm>
          <a:prstGeom prst="rect">
            <a:avLst/>
          </a:prstGeom>
        </p:spPr>
      </p:pic>
      <p:sp>
        <p:nvSpPr>
          <p:cNvPr id="13" name="Text 9"/>
          <p:cNvSpPr/>
          <p:nvPr/>
        </p:nvSpPr>
        <p:spPr>
          <a:xfrm>
            <a:off x="3593592" y="3520440"/>
            <a:ext cx="233172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Consistency</a:t>
            </a:r>
            <a:endParaRPr lang="en-US" sz="1350" dirty="0"/>
          </a:p>
        </p:txBody>
      </p:sp>
      <p:sp>
        <p:nvSpPr>
          <p:cNvPr id="14" name="Text 10"/>
          <p:cNvSpPr/>
          <p:nvPr/>
        </p:nvSpPr>
        <p:spPr>
          <a:xfrm>
            <a:off x="3593592" y="3858768"/>
            <a:ext cx="2331720" cy="868680"/>
          </a:xfrm>
          <a:prstGeom prst="rect">
            <a:avLst/>
          </a:prstGeom>
          <a:noFill/>
          <a:ln/>
        </p:spPr>
        <p:txBody>
          <a:bodyPr wrap="square" rtlCol="0" anchor="ctr"/>
          <a:lstStyle/>
          <a:p>
            <a:pPr algn="ctr" indent="0" marL="0">
              <a:lnSpc>
                <a:spcPts val="1300"/>
              </a:lnSpc>
              <a:buNone/>
            </a:pPr>
            <a:r>
              <a:rPr lang="en-US" sz="1000" dirty="0">
                <a:solidFill>
                  <a:srgbClr val="AFC6D6"/>
                </a:solidFill>
                <a:latin typeface="Calibri" pitchFamily="34" charset="0"/>
                <a:ea typeface="Calibri" pitchFamily="34" charset="-122"/>
                <a:cs typeface="Calibri" pitchFamily="34" charset="-120"/>
              </a:rPr>
              <a:t>Standardized, reproducible anatomical measurements across patients.</a:t>
            </a:r>
            <a:endParaRPr lang="en-US" sz="1000" dirty="0"/>
          </a:p>
        </p:txBody>
      </p:sp>
      <p:sp>
        <p:nvSpPr>
          <p:cNvPr id="15" name="Shape 11"/>
          <p:cNvSpPr/>
          <p:nvPr/>
        </p:nvSpPr>
        <p:spPr>
          <a:xfrm>
            <a:off x="6272784" y="2514600"/>
            <a:ext cx="2697480" cy="2331720"/>
          </a:xfrm>
          <a:prstGeom prst="roundRect">
            <a:avLst>
              <a:gd name="adj" fmla="val 3922"/>
            </a:avLst>
          </a:prstGeom>
          <a:solidFill>
            <a:srgbClr val="0E2740"/>
          </a:solidFill>
          <a:ln w="12700">
            <a:solidFill>
              <a:srgbClr val="1E4E76"/>
            </a:solidFill>
            <a:prstDash val="solid"/>
          </a:ln>
        </p:spPr>
      </p:sp>
      <p:sp>
        <p:nvSpPr>
          <p:cNvPr id="16" name="Shape 12"/>
          <p:cNvSpPr/>
          <p:nvPr/>
        </p:nvSpPr>
        <p:spPr>
          <a:xfrm>
            <a:off x="7278624" y="2720340"/>
            <a:ext cx="685800" cy="685800"/>
          </a:xfrm>
          <a:prstGeom prst="ellipse">
            <a:avLst/>
          </a:prstGeom>
          <a:solidFill>
            <a:srgbClr val="12395A"/>
          </a:solidFill>
          <a:ln/>
        </p:spPr>
      </p:sp>
      <p:pic>
        <p:nvPicPr>
          <p:cNvPr id="17" name="Image 2" descr="icons/chart_teal.png">    </p:cNvPr>
          <p:cNvPicPr>
            <a:picLocks noChangeAspect="1"/>
          </p:cNvPicPr>
          <p:nvPr/>
        </p:nvPicPr>
        <p:blipFill>
          <a:blip r:embed="rId3"/>
          <a:stretch>
            <a:fillRect/>
          </a:stretch>
        </p:blipFill>
        <p:spPr>
          <a:xfrm>
            <a:off x="7443216" y="2884932"/>
            <a:ext cx="356616" cy="356616"/>
          </a:xfrm>
          <a:prstGeom prst="rect">
            <a:avLst/>
          </a:prstGeom>
        </p:spPr>
      </p:pic>
      <p:sp>
        <p:nvSpPr>
          <p:cNvPr id="18" name="Text 13"/>
          <p:cNvSpPr/>
          <p:nvPr/>
        </p:nvSpPr>
        <p:spPr>
          <a:xfrm>
            <a:off x="6455664" y="3520440"/>
            <a:ext cx="233172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Research Insight</a:t>
            </a:r>
            <a:endParaRPr lang="en-US" sz="1350" dirty="0"/>
          </a:p>
        </p:txBody>
      </p:sp>
      <p:sp>
        <p:nvSpPr>
          <p:cNvPr id="19" name="Text 14"/>
          <p:cNvSpPr/>
          <p:nvPr/>
        </p:nvSpPr>
        <p:spPr>
          <a:xfrm>
            <a:off x="6455664" y="3858768"/>
            <a:ext cx="2331720" cy="868680"/>
          </a:xfrm>
          <a:prstGeom prst="rect">
            <a:avLst/>
          </a:prstGeom>
          <a:noFill/>
          <a:ln/>
        </p:spPr>
        <p:txBody>
          <a:bodyPr wrap="square" rtlCol="0" anchor="ctr"/>
          <a:lstStyle/>
          <a:p>
            <a:pPr algn="ctr" indent="0" marL="0">
              <a:lnSpc>
                <a:spcPts val="1300"/>
              </a:lnSpc>
              <a:buNone/>
            </a:pPr>
            <a:r>
              <a:rPr lang="en-US" sz="1000" dirty="0">
                <a:solidFill>
                  <a:srgbClr val="AFC6D6"/>
                </a:solidFill>
                <a:latin typeface="Calibri" pitchFamily="34" charset="0"/>
                <a:ea typeface="Calibri" pitchFamily="34" charset="-122"/>
                <a:cs typeface="Calibri" pitchFamily="34" charset="-120"/>
              </a:rPr>
              <a:t>Structured data connecting meniscus morphology, age, sex &amp; OA status.</a:t>
            </a:r>
            <a:endParaRPr lang="en-US" sz="1000" dirty="0"/>
          </a:p>
        </p:txBody>
      </p:sp>
      <p:sp>
        <p:nvSpPr>
          <p:cNvPr id="20" name="Shape 15"/>
          <p:cNvSpPr/>
          <p:nvPr/>
        </p:nvSpPr>
        <p:spPr>
          <a:xfrm>
            <a:off x="9134856" y="2514600"/>
            <a:ext cx="2697480" cy="2331720"/>
          </a:xfrm>
          <a:prstGeom prst="roundRect">
            <a:avLst>
              <a:gd name="adj" fmla="val 3922"/>
            </a:avLst>
          </a:prstGeom>
          <a:solidFill>
            <a:srgbClr val="0E2740"/>
          </a:solidFill>
          <a:ln w="12700">
            <a:solidFill>
              <a:srgbClr val="1E4E76"/>
            </a:solidFill>
            <a:prstDash val="solid"/>
          </a:ln>
        </p:spPr>
      </p:sp>
      <p:sp>
        <p:nvSpPr>
          <p:cNvPr id="21" name="Shape 16"/>
          <p:cNvSpPr/>
          <p:nvPr/>
        </p:nvSpPr>
        <p:spPr>
          <a:xfrm>
            <a:off x="10140696" y="2720340"/>
            <a:ext cx="685800" cy="685800"/>
          </a:xfrm>
          <a:prstGeom prst="ellipse">
            <a:avLst/>
          </a:prstGeom>
          <a:solidFill>
            <a:srgbClr val="12395A"/>
          </a:solidFill>
          <a:ln/>
        </p:spPr>
      </p:sp>
      <p:pic>
        <p:nvPicPr>
          <p:cNvPr id="22" name="Image 3" descr="icons/doctor_teal.png">    </p:cNvPr>
          <p:cNvPicPr>
            <a:picLocks noChangeAspect="1"/>
          </p:cNvPicPr>
          <p:nvPr/>
        </p:nvPicPr>
        <p:blipFill>
          <a:blip r:embed="rId4"/>
          <a:stretch>
            <a:fillRect/>
          </a:stretch>
        </p:blipFill>
        <p:spPr>
          <a:xfrm>
            <a:off x="10305288" y="2884932"/>
            <a:ext cx="356616" cy="356616"/>
          </a:xfrm>
          <a:prstGeom prst="rect">
            <a:avLst/>
          </a:prstGeom>
        </p:spPr>
      </p:pic>
      <p:sp>
        <p:nvSpPr>
          <p:cNvPr id="23" name="Text 17"/>
          <p:cNvSpPr/>
          <p:nvPr/>
        </p:nvSpPr>
        <p:spPr>
          <a:xfrm>
            <a:off x="9317736" y="3520440"/>
            <a:ext cx="2331720"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Better Planning</a:t>
            </a:r>
            <a:endParaRPr lang="en-US" sz="1350" dirty="0"/>
          </a:p>
        </p:txBody>
      </p:sp>
      <p:sp>
        <p:nvSpPr>
          <p:cNvPr id="24" name="Text 18"/>
          <p:cNvSpPr/>
          <p:nvPr/>
        </p:nvSpPr>
        <p:spPr>
          <a:xfrm>
            <a:off x="9317736" y="3858768"/>
            <a:ext cx="2331720" cy="868680"/>
          </a:xfrm>
          <a:prstGeom prst="rect">
            <a:avLst/>
          </a:prstGeom>
          <a:noFill/>
          <a:ln/>
        </p:spPr>
        <p:txBody>
          <a:bodyPr wrap="square" rtlCol="0" anchor="ctr"/>
          <a:lstStyle/>
          <a:p>
            <a:pPr algn="ctr" indent="0" marL="0">
              <a:lnSpc>
                <a:spcPts val="1300"/>
              </a:lnSpc>
              <a:buNone/>
            </a:pPr>
            <a:r>
              <a:rPr lang="en-US" sz="1000" dirty="0">
                <a:solidFill>
                  <a:srgbClr val="AFC6D6"/>
                </a:solidFill>
                <a:latin typeface="Calibri" pitchFamily="34" charset="0"/>
                <a:ea typeface="Calibri" pitchFamily="34" charset="-122"/>
                <a:cs typeface="Calibri" pitchFamily="34" charset="-120"/>
              </a:rPr>
              <a:t>Data-driven, patient-specific support for pre-operative implant sizing.</a:t>
            </a:r>
            <a:endParaRPr lang="en-US" sz="1000" dirty="0"/>
          </a:p>
        </p:txBody>
      </p:sp>
      <p:sp>
        <p:nvSpPr>
          <p:cNvPr id="25" name="Shape 19"/>
          <p:cNvSpPr/>
          <p:nvPr/>
        </p:nvSpPr>
        <p:spPr>
          <a:xfrm>
            <a:off x="548640" y="5166360"/>
            <a:ext cx="11064240" cy="1051560"/>
          </a:xfrm>
          <a:prstGeom prst="roundRect">
            <a:avLst>
              <a:gd name="adj" fmla="val 8696"/>
            </a:avLst>
          </a:prstGeom>
          <a:solidFill>
            <a:srgbClr val="13707A"/>
          </a:solidFill>
          <a:ln/>
        </p:spPr>
      </p:sp>
      <p:pic>
        <p:nvPicPr>
          <p:cNvPr id="26" name="Image 4" descr="icons/shield_white.png">    </p:cNvPr>
          <p:cNvPicPr>
            <a:picLocks noChangeAspect="1"/>
          </p:cNvPicPr>
          <p:nvPr/>
        </p:nvPicPr>
        <p:blipFill>
          <a:blip r:embed="rId5"/>
          <a:stretch>
            <a:fillRect/>
          </a:stretch>
        </p:blipFill>
        <p:spPr>
          <a:xfrm>
            <a:off x="822960" y="5486400"/>
            <a:ext cx="457200" cy="457200"/>
          </a:xfrm>
          <a:prstGeom prst="rect">
            <a:avLst/>
          </a:prstGeom>
        </p:spPr>
      </p:pic>
      <p:sp>
        <p:nvSpPr>
          <p:cNvPr id="27" name="Text 20"/>
          <p:cNvSpPr/>
          <p:nvPr/>
        </p:nvSpPr>
        <p:spPr>
          <a:xfrm>
            <a:off x="1463040" y="5166360"/>
            <a:ext cx="9966960" cy="1051560"/>
          </a:xfrm>
          <a:prstGeom prst="rect">
            <a:avLst/>
          </a:prstGeom>
          <a:noFill/>
          <a:ln/>
        </p:spPr>
        <p:txBody>
          <a:bodyPr wrap="square" rtlCol="0" anchor="ctr"/>
          <a:lstStyle/>
          <a:p>
            <a:pPr indent="0" marL="0">
              <a:lnSpc>
                <a:spcPts val="1700"/>
              </a:lnSpc>
              <a:buNone/>
            </a:pPr>
            <a:r>
              <a:rPr lang="en-US" sz="1300" i="1" dirty="0">
                <a:solidFill>
                  <a:srgbClr val="FFFFFF"/>
                </a:solidFill>
                <a:latin typeface="Calibri" pitchFamily="34" charset="0"/>
                <a:ea typeface="Calibri" pitchFamily="34" charset="-122"/>
                <a:cs typeface="Calibri" pitchFamily="34" charset="-120"/>
              </a:rPr>
              <a:t>A clinical decision-support and research tool — not a replacement for diagnosis. Final diagnosis and treatment decisions remain under the supervision of qualified medical professionals.</a:t>
            </a:r>
            <a:endParaRPr lang="en-US" sz="1300" dirty="0"/>
          </a:p>
        </p:txBody>
      </p:sp>
      <p:sp>
        <p:nvSpPr>
          <p:cNvPr id="28" name="Text 21"/>
          <p:cNvSpPr/>
          <p:nvPr/>
        </p:nvSpPr>
        <p:spPr>
          <a:xfrm>
            <a:off x="11503152" y="6446520"/>
            <a:ext cx="457200" cy="274320"/>
          </a:xfrm>
          <a:prstGeom prst="rect">
            <a:avLst/>
          </a:prstGeom>
          <a:noFill/>
          <a:ln/>
        </p:spPr>
        <p:txBody>
          <a:bodyPr wrap="square" rtlCol="0" anchor="ctr"/>
          <a:lstStyle/>
          <a:p>
            <a:pPr algn="r" indent="0" marL="0">
              <a:buNone/>
            </a:pPr>
            <a:r>
              <a:rPr lang="en-US" sz="1000" dirty="0">
                <a:solidFill>
                  <a:srgbClr val="9FB4C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2026-08-22T10:43:52Z</dcterms:created>
  <dcterms:modified xsi:type="dcterms:W3CDTF">2026-08-22T10:43:52Z</dcterms:modified>
</cp:coreProperties>
</file>